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Canva Sans 1 Medium" charset="1" panose="020B0603030501040103"/>
      <p:regular r:id="rId17"/>
    </p:embeddedFont>
    <p:embeddedFont>
      <p:font typeface="Arimo Bold" charset="1" panose="020B0704020202020204"/>
      <p:regular r:id="rId18"/>
    </p:embeddedFont>
    <p:embeddedFont>
      <p:font typeface="Garet" charset="1" panose="00000000000000000000"/>
      <p:regular r:id="rId19"/>
    </p:embeddedFont>
    <p:embeddedFont>
      <p:font typeface="Tahoma Bold" charset="1" panose="020B0804030504040204"/>
      <p:regular r:id="rId20"/>
    </p:embeddedFont>
    <p:embeddedFont>
      <p:font typeface="Canva Sans 2 Bold" charset="1" panose="020B0803030501040103"/>
      <p:regular r:id="rId21"/>
    </p:embeddedFont>
    <p:embeddedFont>
      <p:font typeface="Canva Sans 2 Medium" charset="1" panose="020B0603030501040103"/>
      <p:regular r:id="rId23"/>
    </p:embeddedFont>
    <p:embeddedFont>
      <p:font typeface="Canva Sans 2" charset="1" panose="020B0503030501040103"/>
      <p:regular r:id="rId24"/>
    </p:embeddedFont>
    <p:embeddedFont>
      <p:font typeface="Arimo" charset="1" panose="020B0604020202020204"/>
      <p:regular r:id="rId26"/>
    </p:embeddedFont>
    <p:embeddedFont>
      <p:font typeface="Canva Sans 1 Bold" charset="1" panose="020B0803030501040103"/>
      <p:regular r:id="rId28"/>
    </p:embeddedFont>
    <p:embeddedFont>
      <p:font typeface="Canva Sans 1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mc.ncbi.nlm.nih.gov/articles/PMC11504815/" TargetMode="External" Type="http://schemas.openxmlformats.org/officeDocument/2006/relationships/hyperlink"/><Relationship Id="rId11" Target="https://www.theindiaforum.in/forum/registered-not-reached-why-indias-welfare-schemes-informal-workers-fall-short" TargetMode="External" Type="http://schemas.openxmlformats.org/officeDocument/2006/relationships/hyperlink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https://www.graduateinstitute.ch/sites/internet/files/2022-08/Project_56_Connect.pdf" TargetMode="External" Type="http://schemas.openxmlformats.org/officeDocument/2006/relationships/hyperlink"/><Relationship Id="rId9" Target="https://www.ncbi.nlm.nih.gov/pmc/articles/PMC10019566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85165" y="1277283"/>
            <a:ext cx="6957908" cy="7732452"/>
            <a:chOff x="0" y="0"/>
            <a:chExt cx="9277210" cy="10309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77210" cy="10309936"/>
            </a:xfrm>
            <a:custGeom>
              <a:avLst/>
              <a:gdLst/>
              <a:ahLst/>
              <a:cxnLst/>
              <a:rect r="r" b="b" t="t" l="l"/>
              <a:pathLst>
                <a:path h="10309936" w="9277210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2396223" y="1728711"/>
              <a:ext cx="6407023" cy="6852476"/>
              <a:chOff x="0" y="0"/>
              <a:chExt cx="6407023" cy="6852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149475" b="-1"/>
                </a:stretch>
              </a:blipFill>
            </p:spPr>
          </p:sp>
        </p:grpSp>
      </p:grpSp>
      <p:grpSp>
        <p:nvGrpSpPr>
          <p:cNvPr name="Group 6" id="6"/>
          <p:cNvGrpSpPr/>
          <p:nvPr/>
        </p:nvGrpSpPr>
        <p:grpSpPr>
          <a:xfrm rot="0">
            <a:off x="268569" y="-280054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7384" y="2465070"/>
            <a:ext cx="17840616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26092</a:t>
            </a:r>
          </a:p>
          <a:p>
            <a:pPr algn="just" marL="651510" indent="-325755" lvl="1">
              <a:lnSpc>
                <a:spcPts val="5436"/>
              </a:lnSpc>
              <a:buFont typeface="Arial"/>
              <a:buChar char="•"/>
            </a:pPr>
            <a:r>
              <a:rPr lang="en-US" b="true" sz="3600" spc="-1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 spc="-122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AI-Driven Scheme</a:t>
            </a:r>
          </a:p>
          <a:p>
            <a:pPr algn="just">
              <a:lnSpc>
                <a:spcPts val="5436"/>
              </a:lnSpc>
            </a:pPr>
            <a:r>
              <a:rPr lang="en-US" b="true" sz="3600" spc="-122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      Matching for Marginalized Entrepreneurs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3600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r>
              <a:rPr lang="en-US" b="true" sz="3600">
                <a:solidFill>
                  <a:srgbClr val="F2672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MMP07765701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5E17EB"/>
                </a:solidFill>
                <a:latin typeface="Arial Bold"/>
                <a:ea typeface="Arial Bold"/>
                <a:cs typeface="Arial Bold"/>
                <a:sym typeface="Arial Bold"/>
              </a:rPr>
              <a:t>Lumiere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37476" y="2248"/>
            <a:ext cx="3136002" cy="1480760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31301" y="-927240"/>
            <a:ext cx="6843569" cy="2325215"/>
            <a:chOff x="0" y="0"/>
            <a:chExt cx="9697982" cy="32950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97982" cy="3295048"/>
            </a:xfrm>
            <a:custGeom>
              <a:avLst/>
              <a:gdLst/>
              <a:ahLst/>
              <a:cxnLst/>
              <a:rect r="r" b="b" t="t" l="l"/>
              <a:pathLst>
                <a:path h="3295048" w="9697982">
                  <a:moveTo>
                    <a:pt x="0" y="0"/>
                  </a:moveTo>
                  <a:lnTo>
                    <a:pt x="9697982" y="0"/>
                  </a:lnTo>
                  <a:lnTo>
                    <a:pt x="9697982" y="3295048"/>
                  </a:lnTo>
                  <a:lnTo>
                    <a:pt x="0" y="3295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85" r="-126290" b="-644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697982" cy="3295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</a:p>
            <a:p>
              <a:pPr algn="ctr">
                <a:lnSpc>
                  <a:spcPts val="7919"/>
                </a:lnSpc>
              </a:pPr>
              <a:r>
                <a:rPr lang="en-US" sz="6599" b="true">
                  <a:solidFill>
                    <a:srgbClr val="000000"/>
                  </a:solidFill>
                  <a:latin typeface="Canva Sans 1 Medium"/>
                  <a:ea typeface="Canva Sans 1 Medium"/>
                  <a:cs typeface="Canva Sans 1 Medium"/>
                  <a:sym typeface="Canva Sans 1 Medium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4196" y="9534525"/>
            <a:ext cx="4075129" cy="643888"/>
            <a:chOff x="0" y="0"/>
            <a:chExt cx="5433506" cy="8585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3505" cy="858518"/>
            </a:xfrm>
            <a:custGeom>
              <a:avLst/>
              <a:gdLst/>
              <a:ahLst/>
              <a:cxnLst/>
              <a:rect r="r" b="b" t="t" l="l"/>
              <a:pathLst>
                <a:path h="858518" w="5433505">
                  <a:moveTo>
                    <a:pt x="0" y="0"/>
                  </a:moveTo>
                  <a:lnTo>
                    <a:pt x="5433505" y="0"/>
                  </a:lnTo>
                  <a:lnTo>
                    <a:pt x="5433505" y="858518"/>
                  </a:lnTo>
                  <a:lnTo>
                    <a:pt x="0" y="858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07" r="-17934" b="-879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433506" cy="858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@Lumiere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1812" y="22540"/>
            <a:ext cx="2814402" cy="1328907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1093" y="1240649"/>
            <a:ext cx="12086282" cy="1815481"/>
            <a:chOff x="0" y="0"/>
            <a:chExt cx="16115042" cy="242064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508851"/>
              <a:ext cx="15978489" cy="1658190"/>
              <a:chOff x="0" y="0"/>
              <a:chExt cx="15910525" cy="165113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910068" cy="1650572"/>
              </a:xfrm>
              <a:custGeom>
                <a:avLst/>
                <a:gdLst/>
                <a:ahLst/>
                <a:cxnLst/>
                <a:rect r="r" b="b" t="t" l="l"/>
                <a:pathLst>
                  <a:path h="1650572" w="15910068">
                    <a:moveTo>
                      <a:pt x="15737163" y="1650572"/>
                    </a:moveTo>
                    <a:lnTo>
                      <a:pt x="172905" y="1650572"/>
                    </a:lnTo>
                    <a:lnTo>
                      <a:pt x="139065" y="1646762"/>
                    </a:lnTo>
                    <a:lnTo>
                      <a:pt x="77066" y="1617409"/>
                    </a:lnTo>
                    <a:lnTo>
                      <a:pt x="29147" y="1562653"/>
                    </a:lnTo>
                    <a:lnTo>
                      <a:pt x="3335" y="1491668"/>
                    </a:lnTo>
                    <a:lnTo>
                      <a:pt x="0" y="1453000"/>
                    </a:lnTo>
                    <a:lnTo>
                      <a:pt x="0" y="197572"/>
                    </a:lnTo>
                    <a:lnTo>
                      <a:pt x="13215" y="121930"/>
                    </a:lnTo>
                    <a:lnTo>
                      <a:pt x="50636" y="57860"/>
                    </a:lnTo>
                    <a:lnTo>
                      <a:pt x="106707" y="15100"/>
                    </a:lnTo>
                    <a:lnTo>
                      <a:pt x="172905" y="0"/>
                    </a:lnTo>
                    <a:lnTo>
                      <a:pt x="15737163" y="0"/>
                    </a:lnTo>
                    <a:lnTo>
                      <a:pt x="15803361" y="15100"/>
                    </a:lnTo>
                    <a:lnTo>
                      <a:pt x="15859432" y="57860"/>
                    </a:lnTo>
                    <a:lnTo>
                      <a:pt x="15896854" y="121930"/>
                    </a:lnTo>
                    <a:lnTo>
                      <a:pt x="15910068" y="197572"/>
                    </a:lnTo>
                    <a:lnTo>
                      <a:pt x="15910068" y="1453000"/>
                    </a:lnTo>
                    <a:lnTo>
                      <a:pt x="15896854" y="1528642"/>
                    </a:lnTo>
                    <a:lnTo>
                      <a:pt x="15859432" y="1592712"/>
                    </a:lnTo>
                    <a:lnTo>
                      <a:pt x="15803361" y="1635472"/>
                    </a:lnTo>
                    <a:lnTo>
                      <a:pt x="15737163" y="1650572"/>
                    </a:lnTo>
                    <a:close/>
                  </a:path>
                </a:pathLst>
              </a:custGeom>
              <a:solidFill>
                <a:srgbClr val="C24D24">
                  <a:alpha val="0"/>
                </a:srgbClr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45775" y="0"/>
              <a:ext cx="3390925" cy="508851"/>
              <a:chOff x="0" y="0"/>
              <a:chExt cx="3390925" cy="50885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90520" cy="508508"/>
              </a:xfrm>
              <a:custGeom>
                <a:avLst/>
                <a:gdLst/>
                <a:ahLst/>
                <a:cxnLst/>
                <a:rect r="r" b="b" t="t" l="l"/>
                <a:pathLst>
                  <a:path h="508508" w="3390520">
                    <a:moveTo>
                      <a:pt x="3218848" y="508508"/>
                    </a:moveTo>
                    <a:lnTo>
                      <a:pt x="171672" y="508508"/>
                    </a:lnTo>
                    <a:lnTo>
                      <a:pt x="138073" y="505079"/>
                    </a:lnTo>
                    <a:lnTo>
                      <a:pt x="76517" y="478663"/>
                    </a:lnTo>
                    <a:lnTo>
                      <a:pt x="28939" y="429387"/>
                    </a:lnTo>
                    <a:lnTo>
                      <a:pt x="3311" y="365633"/>
                    </a:lnTo>
                    <a:lnTo>
                      <a:pt x="0" y="330708"/>
                    </a:lnTo>
                    <a:lnTo>
                      <a:pt x="0" y="177800"/>
                    </a:lnTo>
                    <a:lnTo>
                      <a:pt x="13121" y="109728"/>
                    </a:lnTo>
                    <a:lnTo>
                      <a:pt x="50275" y="52070"/>
                    </a:lnTo>
                    <a:lnTo>
                      <a:pt x="105946" y="13589"/>
                    </a:lnTo>
                    <a:lnTo>
                      <a:pt x="171672" y="0"/>
                    </a:lnTo>
                    <a:lnTo>
                      <a:pt x="3218848" y="0"/>
                    </a:lnTo>
                    <a:lnTo>
                      <a:pt x="3284574" y="13589"/>
                    </a:lnTo>
                    <a:lnTo>
                      <a:pt x="3340245" y="52070"/>
                    </a:lnTo>
                    <a:lnTo>
                      <a:pt x="3377399" y="109728"/>
                    </a:lnTo>
                    <a:lnTo>
                      <a:pt x="3390520" y="177800"/>
                    </a:lnTo>
                    <a:lnTo>
                      <a:pt x="3390520" y="330708"/>
                    </a:lnTo>
                    <a:lnTo>
                      <a:pt x="3377399" y="398780"/>
                    </a:lnTo>
                    <a:lnTo>
                      <a:pt x="3340245" y="456438"/>
                    </a:lnTo>
                    <a:lnTo>
                      <a:pt x="3284574" y="494919"/>
                    </a:lnTo>
                    <a:lnTo>
                      <a:pt x="3218848" y="508508"/>
                    </a:lnTo>
                    <a:close/>
                  </a:path>
                </a:pathLst>
              </a:custGeom>
              <a:solidFill>
                <a:srgbClr val="75838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8257" y="25083"/>
              <a:ext cx="3165299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b="true" sz="2000" spc="-85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PROBLEM EXISTING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8257" y="142558"/>
              <a:ext cx="15956785" cy="227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7"/>
                </a:lnSpc>
              </a:pP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Scheme Awareness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 People don't know which government scheme they are eligible for.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Complex Eligibility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 Scheme rules are scattered across different PDFs and portals.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Application Confusion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 People don't know where or how to apply for the scheme.</a:t>
              </a:r>
            </a:p>
            <a:p>
              <a:pPr algn="l">
                <a:lnSpc>
                  <a:spcPts val="284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2577" y="2990102"/>
            <a:ext cx="11954797" cy="2153398"/>
            <a:chOff x="0" y="0"/>
            <a:chExt cx="15939730" cy="287119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508851"/>
              <a:ext cx="15939730" cy="2062435"/>
              <a:chOff x="0" y="0"/>
              <a:chExt cx="15939730" cy="206243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5939272" cy="2061730"/>
              </a:xfrm>
              <a:custGeom>
                <a:avLst/>
                <a:gdLst/>
                <a:ahLst/>
                <a:cxnLst/>
                <a:rect r="r" b="b" t="t" l="l"/>
                <a:pathLst>
                  <a:path h="2061730" w="15939272">
                    <a:moveTo>
                      <a:pt x="15766050" y="2061730"/>
                    </a:moveTo>
                    <a:lnTo>
                      <a:pt x="173222" y="2061730"/>
                    </a:lnTo>
                    <a:lnTo>
                      <a:pt x="139320" y="2056970"/>
                    </a:lnTo>
                    <a:lnTo>
                      <a:pt x="77208" y="2020305"/>
                    </a:lnTo>
                    <a:lnTo>
                      <a:pt x="29200" y="1951910"/>
                    </a:lnTo>
                    <a:lnTo>
                      <a:pt x="3341" y="1863242"/>
                    </a:lnTo>
                    <a:lnTo>
                      <a:pt x="0" y="1814943"/>
                    </a:lnTo>
                    <a:lnTo>
                      <a:pt x="0" y="246787"/>
                    </a:lnTo>
                    <a:lnTo>
                      <a:pt x="13239" y="152303"/>
                    </a:lnTo>
                    <a:lnTo>
                      <a:pt x="50729" y="72273"/>
                    </a:lnTo>
                    <a:lnTo>
                      <a:pt x="106903" y="18862"/>
                    </a:lnTo>
                    <a:lnTo>
                      <a:pt x="173222" y="0"/>
                    </a:lnTo>
                    <a:lnTo>
                      <a:pt x="15766050" y="0"/>
                    </a:lnTo>
                    <a:lnTo>
                      <a:pt x="15832368" y="18862"/>
                    </a:lnTo>
                    <a:lnTo>
                      <a:pt x="15888543" y="72273"/>
                    </a:lnTo>
                    <a:lnTo>
                      <a:pt x="15926034" y="152303"/>
                    </a:lnTo>
                    <a:lnTo>
                      <a:pt x="15939272" y="246787"/>
                    </a:lnTo>
                    <a:lnTo>
                      <a:pt x="15939272" y="1814943"/>
                    </a:lnTo>
                    <a:lnTo>
                      <a:pt x="15926034" y="1909427"/>
                    </a:lnTo>
                    <a:lnTo>
                      <a:pt x="15888543" y="1989456"/>
                    </a:lnTo>
                    <a:lnTo>
                      <a:pt x="15832368" y="2042868"/>
                    </a:lnTo>
                    <a:lnTo>
                      <a:pt x="15766050" y="2061730"/>
                    </a:lnTo>
                    <a:close/>
                  </a:path>
                </a:pathLst>
              </a:custGeom>
              <a:solidFill>
                <a:srgbClr val="C24D24">
                  <a:alpha val="0"/>
                </a:srgbClr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102451"/>
              <a:ext cx="356746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b="true" sz="2000" spc="-85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PROPOSED SOLUTION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743241" cy="508851"/>
              <a:chOff x="0" y="0"/>
              <a:chExt cx="3743241" cy="5088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742833" cy="508508"/>
              </a:xfrm>
              <a:custGeom>
                <a:avLst/>
                <a:gdLst/>
                <a:ahLst/>
                <a:cxnLst/>
                <a:rect r="r" b="b" t="t" l="l"/>
                <a:pathLst>
                  <a:path h="508508" w="3742833">
                    <a:moveTo>
                      <a:pt x="3569611" y="508508"/>
                    </a:moveTo>
                    <a:lnTo>
                      <a:pt x="173222" y="508508"/>
                    </a:lnTo>
                    <a:lnTo>
                      <a:pt x="139320" y="505079"/>
                    </a:lnTo>
                    <a:lnTo>
                      <a:pt x="77208" y="478663"/>
                    </a:lnTo>
                    <a:lnTo>
                      <a:pt x="29200" y="429387"/>
                    </a:lnTo>
                    <a:lnTo>
                      <a:pt x="3341" y="365633"/>
                    </a:lnTo>
                    <a:lnTo>
                      <a:pt x="0" y="330708"/>
                    </a:lnTo>
                    <a:lnTo>
                      <a:pt x="0" y="177800"/>
                    </a:lnTo>
                    <a:lnTo>
                      <a:pt x="13239" y="109728"/>
                    </a:lnTo>
                    <a:lnTo>
                      <a:pt x="50729" y="52070"/>
                    </a:lnTo>
                    <a:lnTo>
                      <a:pt x="106903" y="13589"/>
                    </a:lnTo>
                    <a:lnTo>
                      <a:pt x="173222" y="0"/>
                    </a:lnTo>
                    <a:lnTo>
                      <a:pt x="3569611" y="0"/>
                    </a:lnTo>
                    <a:lnTo>
                      <a:pt x="3635930" y="13589"/>
                    </a:lnTo>
                    <a:lnTo>
                      <a:pt x="3692104" y="52070"/>
                    </a:lnTo>
                    <a:lnTo>
                      <a:pt x="3729594" y="109728"/>
                    </a:lnTo>
                    <a:lnTo>
                      <a:pt x="3742833" y="177800"/>
                    </a:lnTo>
                    <a:lnTo>
                      <a:pt x="3742833" y="330708"/>
                    </a:lnTo>
                    <a:lnTo>
                      <a:pt x="3729594" y="398780"/>
                    </a:lnTo>
                    <a:lnTo>
                      <a:pt x="3692104" y="456438"/>
                    </a:lnTo>
                    <a:lnTo>
                      <a:pt x="3635930" y="494919"/>
                    </a:lnTo>
                    <a:lnTo>
                      <a:pt x="3569611" y="508508"/>
                    </a:lnTo>
                    <a:close/>
                  </a:path>
                </a:pathLst>
              </a:custGeom>
              <a:solidFill>
                <a:srgbClr val="75838B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7811" y="51225"/>
              <a:ext cx="3532034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b="true" sz="2000" spc="-85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PROPOSED SOLUTION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87672" y="593114"/>
              <a:ext cx="15852058" cy="227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Chat in Your Language: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 Build your profile through simple conversation — no long forms.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Smart Eligibility Check: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 Checks every scheme rule and clearly explains why you qualify.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Financial Calculator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 Estimate loan, EMI, moratorium, and your contribution.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Partner Locator: </a:t>
              </a: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Find the nearest authorized bank or partner to apply.</a:t>
              </a:r>
            </a:p>
            <a:p>
              <a:pPr algn="l">
                <a:lnSpc>
                  <a:spcPts val="284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7464470"/>
            <a:ext cx="11930477" cy="2343899"/>
            <a:chOff x="0" y="0"/>
            <a:chExt cx="15907302" cy="312519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475922"/>
              <a:ext cx="15907302" cy="2649276"/>
              <a:chOff x="0" y="0"/>
              <a:chExt cx="16360991" cy="272483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360521" cy="2723904"/>
              </a:xfrm>
              <a:custGeom>
                <a:avLst/>
                <a:gdLst/>
                <a:ahLst/>
                <a:cxnLst/>
                <a:rect r="r" b="b" t="t" l="l"/>
                <a:pathLst>
                  <a:path h="2723904" w="16360521">
                    <a:moveTo>
                      <a:pt x="16182721" y="2723904"/>
                    </a:moveTo>
                    <a:lnTo>
                      <a:pt x="177800" y="2723904"/>
                    </a:lnTo>
                    <a:lnTo>
                      <a:pt x="143002" y="2717616"/>
                    </a:lnTo>
                    <a:lnTo>
                      <a:pt x="79248" y="2669175"/>
                    </a:lnTo>
                    <a:lnTo>
                      <a:pt x="29972" y="2578813"/>
                    </a:lnTo>
                    <a:lnTo>
                      <a:pt x="3429" y="2461668"/>
                    </a:lnTo>
                    <a:lnTo>
                      <a:pt x="0" y="2397856"/>
                    </a:lnTo>
                    <a:lnTo>
                      <a:pt x="0" y="326049"/>
                    </a:lnTo>
                    <a:lnTo>
                      <a:pt x="13589" y="201219"/>
                    </a:lnTo>
                    <a:lnTo>
                      <a:pt x="52070" y="95486"/>
                    </a:lnTo>
                    <a:lnTo>
                      <a:pt x="109728" y="24919"/>
                    </a:lnTo>
                    <a:lnTo>
                      <a:pt x="177800" y="0"/>
                    </a:lnTo>
                    <a:lnTo>
                      <a:pt x="16182721" y="0"/>
                    </a:lnTo>
                    <a:lnTo>
                      <a:pt x="16250793" y="24919"/>
                    </a:lnTo>
                    <a:lnTo>
                      <a:pt x="16308451" y="95486"/>
                    </a:lnTo>
                    <a:lnTo>
                      <a:pt x="16346932" y="201219"/>
                    </a:lnTo>
                    <a:lnTo>
                      <a:pt x="16360521" y="326049"/>
                    </a:lnTo>
                    <a:lnTo>
                      <a:pt x="16360521" y="2397856"/>
                    </a:lnTo>
                    <a:lnTo>
                      <a:pt x="16346932" y="2522686"/>
                    </a:lnTo>
                    <a:lnTo>
                      <a:pt x="16308451" y="2628419"/>
                    </a:lnTo>
                    <a:lnTo>
                      <a:pt x="16250793" y="2698985"/>
                    </a:lnTo>
                    <a:lnTo>
                      <a:pt x="16182721" y="2723904"/>
                    </a:lnTo>
                    <a:close/>
                  </a:path>
                </a:pathLst>
              </a:custGeom>
              <a:solidFill>
                <a:srgbClr val="C24D24">
                  <a:alpha val="0"/>
                </a:srgbClr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1856" y="0"/>
              <a:ext cx="5822669" cy="475922"/>
              <a:chOff x="0" y="0"/>
              <a:chExt cx="6225540" cy="50885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225159" cy="508508"/>
              </a:xfrm>
              <a:custGeom>
                <a:avLst/>
                <a:gdLst/>
                <a:ahLst/>
                <a:cxnLst/>
                <a:rect r="r" b="b" t="t" l="l"/>
                <a:pathLst>
                  <a:path h="508508" w="6225159">
                    <a:moveTo>
                      <a:pt x="6047359" y="508508"/>
                    </a:moveTo>
                    <a:lnTo>
                      <a:pt x="177800" y="508508"/>
                    </a:lnTo>
                    <a:lnTo>
                      <a:pt x="143002" y="505079"/>
                    </a:lnTo>
                    <a:lnTo>
                      <a:pt x="79248" y="478663"/>
                    </a:lnTo>
                    <a:lnTo>
                      <a:pt x="29972" y="429387"/>
                    </a:lnTo>
                    <a:lnTo>
                      <a:pt x="3429" y="365633"/>
                    </a:lnTo>
                    <a:lnTo>
                      <a:pt x="0" y="330708"/>
                    </a:lnTo>
                    <a:lnTo>
                      <a:pt x="0" y="177800"/>
                    </a:lnTo>
                    <a:lnTo>
                      <a:pt x="13589" y="109728"/>
                    </a:lnTo>
                    <a:lnTo>
                      <a:pt x="52070" y="52070"/>
                    </a:lnTo>
                    <a:lnTo>
                      <a:pt x="109728" y="13589"/>
                    </a:lnTo>
                    <a:lnTo>
                      <a:pt x="177800" y="0"/>
                    </a:lnTo>
                    <a:lnTo>
                      <a:pt x="6047359" y="0"/>
                    </a:lnTo>
                    <a:lnTo>
                      <a:pt x="6115431" y="13589"/>
                    </a:lnTo>
                    <a:lnTo>
                      <a:pt x="6173089" y="52070"/>
                    </a:lnTo>
                    <a:lnTo>
                      <a:pt x="6211570" y="109728"/>
                    </a:lnTo>
                    <a:lnTo>
                      <a:pt x="6225159" y="177800"/>
                    </a:lnTo>
                    <a:lnTo>
                      <a:pt x="6225159" y="330708"/>
                    </a:lnTo>
                    <a:lnTo>
                      <a:pt x="6211570" y="398780"/>
                    </a:lnTo>
                    <a:lnTo>
                      <a:pt x="6173089" y="456438"/>
                    </a:lnTo>
                    <a:lnTo>
                      <a:pt x="6115431" y="494919"/>
                    </a:lnTo>
                    <a:lnTo>
                      <a:pt x="6047359" y="508508"/>
                    </a:lnTo>
                    <a:close/>
                  </a:path>
                </a:pathLst>
              </a:custGeom>
              <a:solidFill>
                <a:srgbClr val="75838B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39301" y="0"/>
              <a:ext cx="6361824" cy="395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3"/>
                </a:lnSpc>
              </a:pPr>
              <a:r>
                <a:rPr lang="en-US" b="true" sz="1944" spc="-82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UVP(UNIQUE VALUE PROPOSITION)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02395" y="282368"/>
            <a:ext cx="2404964" cy="444759"/>
          </a:xfrm>
          <a:custGeom>
            <a:avLst/>
            <a:gdLst/>
            <a:ahLst/>
            <a:cxnLst/>
            <a:rect r="r" b="b" t="t" l="l"/>
            <a:pathLst>
              <a:path h="444759" w="2404964">
                <a:moveTo>
                  <a:pt x="0" y="0"/>
                </a:moveTo>
                <a:lnTo>
                  <a:pt x="2404965" y="0"/>
                </a:lnTo>
                <a:lnTo>
                  <a:pt x="2404965" y="444759"/>
                </a:lnTo>
                <a:lnTo>
                  <a:pt x="0" y="444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24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7652866" y="5008975"/>
            <a:ext cx="2826460" cy="2612476"/>
          </a:xfrm>
          <a:custGeom>
            <a:avLst/>
            <a:gdLst/>
            <a:ahLst/>
            <a:cxnLst/>
            <a:rect r="r" b="b" t="t" l="l"/>
            <a:pathLst>
              <a:path h="2612476" w="2826460">
                <a:moveTo>
                  <a:pt x="0" y="0"/>
                </a:moveTo>
                <a:lnTo>
                  <a:pt x="2826459" y="0"/>
                </a:lnTo>
                <a:lnTo>
                  <a:pt x="2826459" y="2612476"/>
                </a:lnTo>
                <a:lnTo>
                  <a:pt x="0" y="2612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362" r="0" b="-3828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32309" y="5143500"/>
            <a:ext cx="3936612" cy="2026534"/>
          </a:xfrm>
          <a:custGeom>
            <a:avLst/>
            <a:gdLst/>
            <a:ahLst/>
            <a:cxnLst/>
            <a:rect r="r" b="b" t="t" l="l"/>
            <a:pathLst>
              <a:path h="2026534" w="3936612">
                <a:moveTo>
                  <a:pt x="0" y="0"/>
                </a:moveTo>
                <a:lnTo>
                  <a:pt x="3936613" y="0"/>
                </a:lnTo>
                <a:lnTo>
                  <a:pt x="3936613" y="2026534"/>
                </a:lnTo>
                <a:lnTo>
                  <a:pt x="0" y="2026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1289" r="-15700" b="-8545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979335" y="1351447"/>
            <a:ext cx="4279965" cy="7984503"/>
          </a:xfrm>
          <a:custGeom>
            <a:avLst/>
            <a:gdLst/>
            <a:ahLst/>
            <a:cxnLst/>
            <a:rect r="r" b="b" t="t" l="l"/>
            <a:pathLst>
              <a:path h="7984503" w="4279965">
                <a:moveTo>
                  <a:pt x="0" y="0"/>
                </a:moveTo>
                <a:lnTo>
                  <a:pt x="4279965" y="0"/>
                </a:lnTo>
                <a:lnTo>
                  <a:pt x="4279965" y="7984504"/>
                </a:lnTo>
                <a:lnTo>
                  <a:pt x="0" y="79845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425" r="0" b="-2425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02395" y="7602401"/>
            <a:ext cx="1227074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Smart Matching</a:t>
            </a: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Matches people with the right schemes based on income, category, project type,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loan need etc..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2599" y="8383451"/>
            <a:ext cx="75485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052" indent="-177026" lvl="1">
              <a:lnSpc>
                <a:spcPts val="1967"/>
              </a:lnSpc>
              <a:buFont typeface="Arial"/>
              <a:buChar char="•"/>
            </a:pPr>
            <a:r>
              <a:rPr lang="en-US" b="true" sz="1639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Clear Eligibility:</a:t>
            </a:r>
            <a:r>
              <a:rPr lang="en-US" b="true" sz="16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Shows exactly why a person qualifies or doesn’t qualify.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2395" y="8707301"/>
            <a:ext cx="1227074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Right Partner, Right Route</a:t>
            </a: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Finds nearby authorized banks/partners for the selected scheme.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2395" y="9050201"/>
            <a:ext cx="1227074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AI With Limits</a:t>
            </a: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AI explains and translates; the rules engine makes the eligibility decision.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578" y="472999"/>
            <a:ext cx="2510470" cy="457462"/>
          </a:xfrm>
          <a:custGeom>
            <a:avLst/>
            <a:gdLst/>
            <a:ahLst/>
            <a:cxnLst/>
            <a:rect r="r" b="b" t="t" l="l"/>
            <a:pathLst>
              <a:path h="457462" w="2510470">
                <a:moveTo>
                  <a:pt x="0" y="0"/>
                </a:moveTo>
                <a:lnTo>
                  <a:pt x="2510470" y="0"/>
                </a:lnTo>
                <a:lnTo>
                  <a:pt x="2510470" y="457462"/>
                </a:lnTo>
                <a:lnTo>
                  <a:pt x="0" y="457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" r="0" b="-60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5514920" y="136162"/>
            <a:ext cx="2350127" cy="1131135"/>
            <a:chOff x="0" y="0"/>
            <a:chExt cx="4414371" cy="212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41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14410">
                  <a:moveTo>
                    <a:pt x="0" y="0"/>
                  </a:moveTo>
                  <a:lnTo>
                    <a:pt x="4414410" y="0"/>
                  </a:lnTo>
                  <a:lnTo>
                    <a:pt x="441441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8" t="-1" r="-96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803" y="1496028"/>
            <a:ext cx="1753012" cy="1621974"/>
            <a:chOff x="0" y="0"/>
            <a:chExt cx="461699" cy="427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1699" cy="427187"/>
            </a:xfrm>
            <a:custGeom>
              <a:avLst/>
              <a:gdLst/>
              <a:ahLst/>
              <a:cxnLst/>
              <a:rect r="r" b="b" t="t" l="l"/>
              <a:pathLst>
                <a:path h="427187" w="461699">
                  <a:moveTo>
                    <a:pt x="213593" y="0"/>
                  </a:moveTo>
                  <a:lnTo>
                    <a:pt x="248105" y="0"/>
                  </a:lnTo>
                  <a:cubicBezTo>
                    <a:pt x="366070" y="0"/>
                    <a:pt x="461699" y="95629"/>
                    <a:pt x="461699" y="213593"/>
                  </a:cubicBezTo>
                  <a:lnTo>
                    <a:pt x="461699" y="213593"/>
                  </a:lnTo>
                  <a:cubicBezTo>
                    <a:pt x="461699" y="270242"/>
                    <a:pt x="439195" y="324570"/>
                    <a:pt x="399139" y="364627"/>
                  </a:cubicBezTo>
                  <a:cubicBezTo>
                    <a:pt x="359082" y="404683"/>
                    <a:pt x="304754" y="427187"/>
                    <a:pt x="248105" y="427187"/>
                  </a:cubicBezTo>
                  <a:lnTo>
                    <a:pt x="213593" y="427187"/>
                  </a:lnTo>
                  <a:cubicBezTo>
                    <a:pt x="156945" y="427187"/>
                    <a:pt x="102617" y="404683"/>
                    <a:pt x="62560" y="364627"/>
                  </a:cubicBezTo>
                  <a:cubicBezTo>
                    <a:pt x="22504" y="324570"/>
                    <a:pt x="0" y="270242"/>
                    <a:pt x="0" y="213593"/>
                  </a:cubicBezTo>
                  <a:lnTo>
                    <a:pt x="0" y="213593"/>
                  </a:lnTo>
                  <a:cubicBezTo>
                    <a:pt x="0" y="156945"/>
                    <a:pt x="22504" y="102617"/>
                    <a:pt x="62560" y="62560"/>
                  </a:cubicBezTo>
                  <a:cubicBezTo>
                    <a:pt x="102617" y="22504"/>
                    <a:pt x="156945" y="0"/>
                    <a:pt x="213593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61699" cy="446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Beneficiary (Citizen)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13815" y="2104976"/>
            <a:ext cx="676149" cy="385469"/>
            <a:chOff x="0" y="0"/>
            <a:chExt cx="812800" cy="4633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63373"/>
            </a:xfrm>
            <a:custGeom>
              <a:avLst/>
              <a:gdLst/>
              <a:ahLst/>
              <a:cxnLst/>
              <a:rect r="r" b="b" t="t" l="l"/>
              <a:pathLst>
                <a:path h="463373" w="812800">
                  <a:moveTo>
                    <a:pt x="812800" y="23168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60173"/>
                  </a:lnTo>
                  <a:lnTo>
                    <a:pt x="406400" y="260173"/>
                  </a:lnTo>
                  <a:lnTo>
                    <a:pt x="406400" y="463373"/>
                  </a:lnTo>
                  <a:lnTo>
                    <a:pt x="812800" y="23168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84150"/>
              <a:ext cx="711200" cy="7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89964" y="1422446"/>
            <a:ext cx="2004917" cy="1695556"/>
            <a:chOff x="0" y="0"/>
            <a:chExt cx="528044" cy="4465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8044" cy="446566"/>
            </a:xfrm>
            <a:custGeom>
              <a:avLst/>
              <a:gdLst/>
              <a:ahLst/>
              <a:cxnLst/>
              <a:rect r="r" b="b" t="t" l="l"/>
              <a:pathLst>
                <a:path h="446566" w="528044">
                  <a:moveTo>
                    <a:pt x="196935" y="0"/>
                  </a:moveTo>
                  <a:lnTo>
                    <a:pt x="331109" y="0"/>
                  </a:lnTo>
                  <a:cubicBezTo>
                    <a:pt x="383339" y="0"/>
                    <a:pt x="433431" y="20748"/>
                    <a:pt x="470363" y="57681"/>
                  </a:cubicBezTo>
                  <a:cubicBezTo>
                    <a:pt x="507295" y="94613"/>
                    <a:pt x="528044" y="144704"/>
                    <a:pt x="528044" y="196935"/>
                  </a:cubicBezTo>
                  <a:lnTo>
                    <a:pt x="528044" y="249631"/>
                  </a:lnTo>
                  <a:cubicBezTo>
                    <a:pt x="528044" y="358395"/>
                    <a:pt x="439873" y="446566"/>
                    <a:pt x="331109" y="446566"/>
                  </a:cubicBezTo>
                  <a:lnTo>
                    <a:pt x="196935" y="446566"/>
                  </a:lnTo>
                  <a:cubicBezTo>
                    <a:pt x="144704" y="446566"/>
                    <a:pt x="94613" y="425818"/>
                    <a:pt x="57681" y="388885"/>
                  </a:cubicBezTo>
                  <a:cubicBezTo>
                    <a:pt x="20748" y="351953"/>
                    <a:pt x="0" y="301862"/>
                    <a:pt x="0" y="249631"/>
                  </a:cubicBezTo>
                  <a:lnTo>
                    <a:pt x="0" y="196935"/>
                  </a:lnTo>
                  <a:cubicBezTo>
                    <a:pt x="0" y="144704"/>
                    <a:pt x="20748" y="94613"/>
                    <a:pt x="57681" y="57681"/>
                  </a:cubicBezTo>
                  <a:cubicBezTo>
                    <a:pt x="94613" y="20748"/>
                    <a:pt x="144704" y="0"/>
                    <a:pt x="196935" y="0"/>
                  </a:cubicBezTo>
                  <a:close/>
                </a:path>
              </a:pathLst>
            </a:custGeom>
            <a:solidFill>
              <a:srgbClr val="5CE1E6">
                <a:alpha val="8588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28044" cy="46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>
                      <a:alpha val="85882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Access Platform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>
                      <a:alpha val="85882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(Web/Whatapp/Message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70256" y="1542789"/>
            <a:ext cx="2555442" cy="1530668"/>
            <a:chOff x="0" y="0"/>
            <a:chExt cx="673038" cy="4031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3038" cy="403139"/>
            </a:xfrm>
            <a:custGeom>
              <a:avLst/>
              <a:gdLst/>
              <a:ahLst/>
              <a:cxnLst/>
              <a:rect r="r" b="b" t="t" l="l"/>
              <a:pathLst>
                <a:path h="403139" w="673038">
                  <a:moveTo>
                    <a:pt x="154509" y="0"/>
                  </a:moveTo>
                  <a:lnTo>
                    <a:pt x="518530" y="0"/>
                  </a:lnTo>
                  <a:cubicBezTo>
                    <a:pt x="603862" y="0"/>
                    <a:pt x="673038" y="69176"/>
                    <a:pt x="673038" y="154509"/>
                  </a:cubicBezTo>
                  <a:lnTo>
                    <a:pt x="673038" y="248630"/>
                  </a:lnTo>
                  <a:cubicBezTo>
                    <a:pt x="673038" y="333963"/>
                    <a:pt x="603862" y="403139"/>
                    <a:pt x="518530" y="403139"/>
                  </a:cubicBezTo>
                  <a:lnTo>
                    <a:pt x="154509" y="403139"/>
                  </a:lnTo>
                  <a:cubicBezTo>
                    <a:pt x="69176" y="403139"/>
                    <a:pt x="0" y="333963"/>
                    <a:pt x="0" y="248630"/>
                  </a:cubicBezTo>
                  <a:lnTo>
                    <a:pt x="0" y="154509"/>
                  </a:lnTo>
                  <a:cubicBezTo>
                    <a:pt x="0" y="69176"/>
                    <a:pt x="69176" y="0"/>
                    <a:pt x="154509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73038" cy="422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 Intake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Intent detection 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Language detection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Conversation handling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94881" y="2072340"/>
            <a:ext cx="675375" cy="418105"/>
            <a:chOff x="0" y="0"/>
            <a:chExt cx="812800" cy="503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503180"/>
            </a:xfrm>
            <a:custGeom>
              <a:avLst/>
              <a:gdLst/>
              <a:ahLst/>
              <a:cxnLst/>
              <a:rect r="r" b="b" t="t" l="l"/>
              <a:pathLst>
                <a:path h="503180" w="812800">
                  <a:moveTo>
                    <a:pt x="812800" y="2515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99980"/>
                  </a:lnTo>
                  <a:lnTo>
                    <a:pt x="406400" y="299980"/>
                  </a:lnTo>
                  <a:lnTo>
                    <a:pt x="406400" y="503180"/>
                  </a:lnTo>
                  <a:lnTo>
                    <a:pt x="812800" y="2515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84150"/>
              <a:ext cx="711200" cy="11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25698" y="2118661"/>
            <a:ext cx="678724" cy="391275"/>
            <a:chOff x="0" y="0"/>
            <a:chExt cx="812800" cy="468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68568"/>
            </a:xfrm>
            <a:custGeom>
              <a:avLst/>
              <a:gdLst/>
              <a:ahLst/>
              <a:cxnLst/>
              <a:rect r="r" b="b" t="t" l="l"/>
              <a:pathLst>
                <a:path h="468568" w="812800">
                  <a:moveTo>
                    <a:pt x="812800" y="23428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65368"/>
                  </a:lnTo>
                  <a:lnTo>
                    <a:pt x="406400" y="265368"/>
                  </a:lnTo>
                  <a:lnTo>
                    <a:pt x="406400" y="468568"/>
                  </a:lnTo>
                  <a:lnTo>
                    <a:pt x="812800" y="234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84150"/>
              <a:ext cx="711200" cy="81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4422" y="1554495"/>
            <a:ext cx="2543686" cy="1518962"/>
            <a:chOff x="0" y="0"/>
            <a:chExt cx="669942" cy="400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942" cy="400056"/>
            </a:xfrm>
            <a:custGeom>
              <a:avLst/>
              <a:gdLst/>
              <a:ahLst/>
              <a:cxnLst/>
              <a:rect r="r" b="b" t="t" l="l"/>
              <a:pathLst>
                <a:path h="400056" w="669942">
                  <a:moveTo>
                    <a:pt x="155223" y="0"/>
                  </a:moveTo>
                  <a:lnTo>
                    <a:pt x="514719" y="0"/>
                  </a:lnTo>
                  <a:cubicBezTo>
                    <a:pt x="555887" y="0"/>
                    <a:pt x="595368" y="16354"/>
                    <a:pt x="624478" y="45464"/>
                  </a:cubicBezTo>
                  <a:cubicBezTo>
                    <a:pt x="653588" y="74574"/>
                    <a:pt x="669942" y="114055"/>
                    <a:pt x="669942" y="155223"/>
                  </a:cubicBezTo>
                  <a:lnTo>
                    <a:pt x="669942" y="244833"/>
                  </a:lnTo>
                  <a:cubicBezTo>
                    <a:pt x="669942" y="330560"/>
                    <a:pt x="600446" y="400056"/>
                    <a:pt x="514719" y="400056"/>
                  </a:cubicBezTo>
                  <a:lnTo>
                    <a:pt x="155223" y="400056"/>
                  </a:lnTo>
                  <a:cubicBezTo>
                    <a:pt x="114055" y="400056"/>
                    <a:pt x="74574" y="383702"/>
                    <a:pt x="45464" y="354592"/>
                  </a:cubicBezTo>
                  <a:cubicBezTo>
                    <a:pt x="16354" y="325482"/>
                    <a:pt x="0" y="286001"/>
                    <a:pt x="0" y="244833"/>
                  </a:cubicBezTo>
                  <a:lnTo>
                    <a:pt x="0" y="155223"/>
                  </a:lnTo>
                  <a:cubicBezTo>
                    <a:pt x="0" y="114055"/>
                    <a:pt x="16354" y="74574"/>
                    <a:pt x="45464" y="45464"/>
                  </a:cubicBezTo>
                  <a:cubicBezTo>
                    <a:pt x="74574" y="16354"/>
                    <a:pt x="114055" y="0"/>
                    <a:pt x="155223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69942" cy="41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Privacy Shield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Cloud Google DLP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Mask sensitive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48108" y="2154814"/>
            <a:ext cx="762935" cy="444372"/>
            <a:chOff x="0" y="0"/>
            <a:chExt cx="812800" cy="4734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73417"/>
            </a:xfrm>
            <a:custGeom>
              <a:avLst/>
              <a:gdLst/>
              <a:ahLst/>
              <a:cxnLst/>
              <a:rect r="r" b="b" t="t" l="l"/>
              <a:pathLst>
                <a:path h="473417" w="812800">
                  <a:moveTo>
                    <a:pt x="812800" y="23670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70217"/>
                  </a:lnTo>
                  <a:lnTo>
                    <a:pt x="406400" y="270217"/>
                  </a:lnTo>
                  <a:lnTo>
                    <a:pt x="406400" y="473417"/>
                  </a:lnTo>
                  <a:lnTo>
                    <a:pt x="812800" y="2367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84150"/>
              <a:ext cx="711200" cy="8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11043" y="1542789"/>
            <a:ext cx="2865198" cy="1447742"/>
            <a:chOff x="0" y="0"/>
            <a:chExt cx="754620" cy="3812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4620" cy="381298"/>
            </a:xfrm>
            <a:custGeom>
              <a:avLst/>
              <a:gdLst/>
              <a:ahLst/>
              <a:cxnLst/>
              <a:rect r="r" b="b" t="t" l="l"/>
              <a:pathLst>
                <a:path h="381298" w="754620">
                  <a:moveTo>
                    <a:pt x="137805" y="0"/>
                  </a:moveTo>
                  <a:lnTo>
                    <a:pt x="616815" y="0"/>
                  </a:lnTo>
                  <a:cubicBezTo>
                    <a:pt x="692923" y="0"/>
                    <a:pt x="754620" y="61697"/>
                    <a:pt x="754620" y="137805"/>
                  </a:cubicBezTo>
                  <a:lnTo>
                    <a:pt x="754620" y="243493"/>
                  </a:lnTo>
                  <a:cubicBezTo>
                    <a:pt x="754620" y="319601"/>
                    <a:pt x="692923" y="381298"/>
                    <a:pt x="616815" y="381298"/>
                  </a:cubicBezTo>
                  <a:lnTo>
                    <a:pt x="137805" y="381298"/>
                  </a:lnTo>
                  <a:cubicBezTo>
                    <a:pt x="101257" y="381298"/>
                    <a:pt x="66205" y="366780"/>
                    <a:pt x="40362" y="340936"/>
                  </a:cubicBezTo>
                  <a:cubicBezTo>
                    <a:pt x="14519" y="315093"/>
                    <a:pt x="0" y="280042"/>
                    <a:pt x="0" y="243493"/>
                  </a:cubicBezTo>
                  <a:lnTo>
                    <a:pt x="0" y="137805"/>
                  </a:lnTo>
                  <a:cubicBezTo>
                    <a:pt x="0" y="61697"/>
                    <a:pt x="61697" y="0"/>
                    <a:pt x="137805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54620" cy="40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 Assistant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Extract user image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Ask missing questions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Translate/explain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76240" y="2154814"/>
            <a:ext cx="687953" cy="388388"/>
            <a:chOff x="0" y="0"/>
            <a:chExt cx="812800" cy="4588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458872"/>
            </a:xfrm>
            <a:custGeom>
              <a:avLst/>
              <a:gdLst/>
              <a:ahLst/>
              <a:cxnLst/>
              <a:rect r="r" b="b" t="t" l="l"/>
              <a:pathLst>
                <a:path h="458872" w="812800">
                  <a:moveTo>
                    <a:pt x="812800" y="22943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55672"/>
                  </a:lnTo>
                  <a:lnTo>
                    <a:pt x="406400" y="255672"/>
                  </a:lnTo>
                  <a:lnTo>
                    <a:pt x="406400" y="458872"/>
                  </a:lnTo>
                  <a:lnTo>
                    <a:pt x="812800" y="2294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84150"/>
              <a:ext cx="711200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337150" y="1417167"/>
            <a:ext cx="2705081" cy="1860097"/>
            <a:chOff x="0" y="0"/>
            <a:chExt cx="712449" cy="4899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2449" cy="489902"/>
            </a:xfrm>
            <a:custGeom>
              <a:avLst/>
              <a:gdLst/>
              <a:ahLst/>
              <a:cxnLst/>
              <a:rect r="r" b="b" t="t" l="l"/>
              <a:pathLst>
                <a:path h="489902" w="712449">
                  <a:moveTo>
                    <a:pt x="145962" y="0"/>
                  </a:moveTo>
                  <a:lnTo>
                    <a:pt x="566488" y="0"/>
                  </a:lnTo>
                  <a:cubicBezTo>
                    <a:pt x="647100" y="0"/>
                    <a:pt x="712449" y="65349"/>
                    <a:pt x="712449" y="145962"/>
                  </a:cubicBezTo>
                  <a:lnTo>
                    <a:pt x="712449" y="343941"/>
                  </a:lnTo>
                  <a:cubicBezTo>
                    <a:pt x="712449" y="424553"/>
                    <a:pt x="647100" y="489902"/>
                    <a:pt x="566488" y="489902"/>
                  </a:cubicBezTo>
                  <a:lnTo>
                    <a:pt x="145962" y="489902"/>
                  </a:lnTo>
                  <a:cubicBezTo>
                    <a:pt x="65349" y="489902"/>
                    <a:pt x="0" y="424553"/>
                    <a:pt x="0" y="343941"/>
                  </a:cubicBezTo>
                  <a:lnTo>
                    <a:pt x="0" y="145962"/>
                  </a:lnTo>
                  <a:cubicBezTo>
                    <a:pt x="0" y="65349"/>
                    <a:pt x="65349" y="0"/>
                    <a:pt x="145962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12449" cy="50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Structured User Profile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Income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Category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type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Location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Loan requirement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6689691" y="3277264"/>
            <a:ext cx="9497" cy="2687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455236" y="3863380"/>
            <a:ext cx="7370462" cy="4458701"/>
            <a:chOff x="0" y="0"/>
            <a:chExt cx="835588" cy="5054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5588" cy="505482"/>
            </a:xfrm>
            <a:custGeom>
              <a:avLst/>
              <a:gdLst/>
              <a:ahLst/>
              <a:cxnLst/>
              <a:rect r="r" b="b" t="t" l="l"/>
              <a:pathLst>
                <a:path h="505482" w="835588">
                  <a:moveTo>
                    <a:pt x="20516" y="0"/>
                  </a:moveTo>
                  <a:lnTo>
                    <a:pt x="815072" y="0"/>
                  </a:lnTo>
                  <a:cubicBezTo>
                    <a:pt x="826403" y="0"/>
                    <a:pt x="835588" y="9185"/>
                    <a:pt x="835588" y="20516"/>
                  </a:cubicBezTo>
                  <a:lnTo>
                    <a:pt x="835588" y="484966"/>
                  </a:lnTo>
                  <a:cubicBezTo>
                    <a:pt x="835588" y="490407"/>
                    <a:pt x="833426" y="495626"/>
                    <a:pt x="829579" y="499473"/>
                  </a:cubicBezTo>
                  <a:cubicBezTo>
                    <a:pt x="825731" y="503321"/>
                    <a:pt x="820513" y="505482"/>
                    <a:pt x="815072" y="505482"/>
                  </a:cubicBezTo>
                  <a:lnTo>
                    <a:pt x="20516" y="505482"/>
                  </a:lnTo>
                  <a:cubicBezTo>
                    <a:pt x="15075" y="505482"/>
                    <a:pt x="9856" y="503321"/>
                    <a:pt x="6009" y="499473"/>
                  </a:cubicBezTo>
                  <a:cubicBezTo>
                    <a:pt x="2161" y="495626"/>
                    <a:pt x="0" y="490407"/>
                    <a:pt x="0" y="484966"/>
                  </a:cubicBezTo>
                  <a:lnTo>
                    <a:pt x="0" y="20516"/>
                  </a:lnTo>
                  <a:cubicBezTo>
                    <a:pt x="0" y="15075"/>
                    <a:pt x="2161" y="9856"/>
                    <a:pt x="6009" y="6009"/>
                  </a:cubicBezTo>
                  <a:cubicBezTo>
                    <a:pt x="9856" y="2161"/>
                    <a:pt x="15075" y="0"/>
                    <a:pt x="20516" y="0"/>
                  </a:cubicBezTo>
                  <a:close/>
                </a:path>
              </a:pathLst>
            </a:custGeom>
            <a:solidFill>
              <a:srgbClr val="80C34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35588" cy="515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1.DETERMINISTIC ELIGILIBILITY ENGINE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0470" y="5461246"/>
            <a:ext cx="1273346" cy="834546"/>
            <a:chOff x="0" y="0"/>
            <a:chExt cx="335367" cy="2197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5367" cy="219798"/>
            </a:xfrm>
            <a:custGeom>
              <a:avLst/>
              <a:gdLst/>
              <a:ahLst/>
              <a:cxnLst/>
              <a:rect r="r" b="b" t="t" l="l"/>
              <a:pathLst>
                <a:path h="219798" w="335367">
                  <a:moveTo>
                    <a:pt x="109899" y="0"/>
                  </a:moveTo>
                  <a:lnTo>
                    <a:pt x="225468" y="0"/>
                  </a:lnTo>
                  <a:cubicBezTo>
                    <a:pt x="286163" y="0"/>
                    <a:pt x="335367" y="49203"/>
                    <a:pt x="335367" y="109899"/>
                  </a:cubicBezTo>
                  <a:lnTo>
                    <a:pt x="335367" y="109899"/>
                  </a:lnTo>
                  <a:cubicBezTo>
                    <a:pt x="335367" y="170595"/>
                    <a:pt x="286163" y="219798"/>
                    <a:pt x="225468" y="219798"/>
                  </a:cubicBezTo>
                  <a:lnTo>
                    <a:pt x="109899" y="219798"/>
                  </a:lnTo>
                  <a:cubicBezTo>
                    <a:pt x="49203" y="219798"/>
                    <a:pt x="0" y="170595"/>
                    <a:pt x="0" y="109899"/>
                  </a:cubicBezTo>
                  <a:lnTo>
                    <a:pt x="0" y="109899"/>
                  </a:lnTo>
                  <a:cubicBezTo>
                    <a:pt x="0" y="49203"/>
                    <a:pt x="49203" y="0"/>
                    <a:pt x="1098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35367" cy="23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Profile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32575">
            <a:off x="2116049" y="4746153"/>
            <a:ext cx="2681113" cy="1944772"/>
            <a:chOff x="0" y="0"/>
            <a:chExt cx="706137" cy="5122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6137" cy="512203"/>
            </a:xfrm>
            <a:custGeom>
              <a:avLst/>
              <a:gdLst/>
              <a:ahLst/>
              <a:cxnLst/>
              <a:rect r="r" b="b" t="t" l="l"/>
              <a:pathLst>
                <a:path h="512203" w="706137">
                  <a:moveTo>
                    <a:pt x="147266" y="0"/>
                  </a:moveTo>
                  <a:lnTo>
                    <a:pt x="558870" y="0"/>
                  </a:lnTo>
                  <a:cubicBezTo>
                    <a:pt x="597928" y="0"/>
                    <a:pt x="635385" y="15516"/>
                    <a:pt x="663003" y="43133"/>
                  </a:cubicBezTo>
                  <a:cubicBezTo>
                    <a:pt x="690621" y="70751"/>
                    <a:pt x="706137" y="108209"/>
                    <a:pt x="706137" y="147266"/>
                  </a:cubicBezTo>
                  <a:lnTo>
                    <a:pt x="706137" y="364937"/>
                  </a:lnTo>
                  <a:cubicBezTo>
                    <a:pt x="706137" y="403994"/>
                    <a:pt x="690621" y="441452"/>
                    <a:pt x="663003" y="469070"/>
                  </a:cubicBezTo>
                  <a:cubicBezTo>
                    <a:pt x="635385" y="496688"/>
                    <a:pt x="597928" y="512203"/>
                    <a:pt x="558870" y="512203"/>
                  </a:cubicBezTo>
                  <a:lnTo>
                    <a:pt x="147266" y="512203"/>
                  </a:lnTo>
                  <a:cubicBezTo>
                    <a:pt x="108209" y="512203"/>
                    <a:pt x="70751" y="496688"/>
                    <a:pt x="43133" y="469070"/>
                  </a:cubicBezTo>
                  <a:cubicBezTo>
                    <a:pt x="15516" y="441452"/>
                    <a:pt x="0" y="403994"/>
                    <a:pt x="0" y="364937"/>
                  </a:cubicBezTo>
                  <a:lnTo>
                    <a:pt x="0" y="147266"/>
                  </a:lnTo>
                  <a:cubicBezTo>
                    <a:pt x="0" y="108209"/>
                    <a:pt x="15516" y="70751"/>
                    <a:pt x="43133" y="43133"/>
                  </a:cubicBezTo>
                  <a:cubicBezTo>
                    <a:pt x="70751" y="15516"/>
                    <a:pt x="108209" y="0"/>
                    <a:pt x="147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706137" cy="53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Scheme Rules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Income limits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Category/reservation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type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Age/other condition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32575">
            <a:off x="4939629" y="4271413"/>
            <a:ext cx="2765216" cy="1503350"/>
            <a:chOff x="0" y="0"/>
            <a:chExt cx="728287" cy="395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8287" cy="395944"/>
            </a:xfrm>
            <a:custGeom>
              <a:avLst/>
              <a:gdLst/>
              <a:ahLst/>
              <a:cxnLst/>
              <a:rect r="r" b="b" t="t" l="l"/>
              <a:pathLst>
                <a:path h="395944" w="728287">
                  <a:moveTo>
                    <a:pt x="142787" y="0"/>
                  </a:moveTo>
                  <a:lnTo>
                    <a:pt x="585500" y="0"/>
                  </a:lnTo>
                  <a:cubicBezTo>
                    <a:pt x="664359" y="0"/>
                    <a:pt x="728287" y="63928"/>
                    <a:pt x="728287" y="142787"/>
                  </a:cubicBezTo>
                  <a:lnTo>
                    <a:pt x="728287" y="253157"/>
                  </a:lnTo>
                  <a:cubicBezTo>
                    <a:pt x="728287" y="291026"/>
                    <a:pt x="713244" y="327345"/>
                    <a:pt x="686466" y="354123"/>
                  </a:cubicBezTo>
                  <a:cubicBezTo>
                    <a:pt x="659688" y="380900"/>
                    <a:pt x="623369" y="395944"/>
                    <a:pt x="585500" y="395944"/>
                  </a:cubicBezTo>
                  <a:lnTo>
                    <a:pt x="142787" y="395944"/>
                  </a:lnTo>
                  <a:cubicBezTo>
                    <a:pt x="104918" y="395944"/>
                    <a:pt x="68599" y="380900"/>
                    <a:pt x="41821" y="354123"/>
                  </a:cubicBezTo>
                  <a:cubicBezTo>
                    <a:pt x="15044" y="327345"/>
                    <a:pt x="0" y="291026"/>
                    <a:pt x="0" y="253157"/>
                  </a:cubicBezTo>
                  <a:lnTo>
                    <a:pt x="0" y="142787"/>
                  </a:lnTo>
                  <a:cubicBezTo>
                    <a:pt x="0" y="104918"/>
                    <a:pt x="15044" y="68599"/>
                    <a:pt x="41821" y="41821"/>
                  </a:cubicBezTo>
                  <a:cubicBezTo>
                    <a:pt x="68599" y="15044"/>
                    <a:pt x="104918" y="0"/>
                    <a:pt x="142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728287" cy="414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ELIGIBLE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Matched Scheme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Benefits and Subsidy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Reson for eligibility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064015" y="6051431"/>
            <a:ext cx="2502323" cy="1543050"/>
            <a:chOff x="0" y="0"/>
            <a:chExt cx="659048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9048" cy="406400"/>
            </a:xfrm>
            <a:custGeom>
              <a:avLst/>
              <a:gdLst/>
              <a:ahLst/>
              <a:cxnLst/>
              <a:rect r="r" b="b" t="t" l="l"/>
              <a:pathLst>
                <a:path h="406400" w="659048">
                  <a:moveTo>
                    <a:pt x="157789" y="0"/>
                  </a:moveTo>
                  <a:lnTo>
                    <a:pt x="501260" y="0"/>
                  </a:lnTo>
                  <a:cubicBezTo>
                    <a:pt x="588404" y="0"/>
                    <a:pt x="659048" y="70644"/>
                    <a:pt x="659048" y="157789"/>
                  </a:cubicBezTo>
                  <a:lnTo>
                    <a:pt x="659048" y="248611"/>
                  </a:lnTo>
                  <a:cubicBezTo>
                    <a:pt x="659048" y="335756"/>
                    <a:pt x="588404" y="406400"/>
                    <a:pt x="501260" y="406400"/>
                  </a:cubicBezTo>
                  <a:lnTo>
                    <a:pt x="157789" y="406400"/>
                  </a:lnTo>
                  <a:cubicBezTo>
                    <a:pt x="70644" y="406400"/>
                    <a:pt x="0" y="335756"/>
                    <a:pt x="0" y="248611"/>
                  </a:cubicBezTo>
                  <a:lnTo>
                    <a:pt x="0" y="157789"/>
                  </a:lnTo>
                  <a:cubicBezTo>
                    <a:pt x="0" y="70644"/>
                    <a:pt x="70644" y="0"/>
                    <a:pt x="1577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59048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NOT ELIGIBLE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Failed condition(s)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Explanation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Alternative suggestions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46469" y="6973564"/>
            <a:ext cx="3086100" cy="436832"/>
            <a:chOff x="0" y="0"/>
            <a:chExt cx="812800" cy="115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115050"/>
            </a:xfrm>
            <a:custGeom>
              <a:avLst/>
              <a:gdLst/>
              <a:ahLst/>
              <a:cxnLst/>
              <a:rect r="r" b="b" t="t" l="l"/>
              <a:pathLst>
                <a:path h="115050" w="812800">
                  <a:moveTo>
                    <a:pt x="57525" y="0"/>
                  </a:moveTo>
                  <a:lnTo>
                    <a:pt x="755275" y="0"/>
                  </a:lnTo>
                  <a:cubicBezTo>
                    <a:pt x="787045" y="0"/>
                    <a:pt x="812800" y="25755"/>
                    <a:pt x="812800" y="57525"/>
                  </a:cubicBezTo>
                  <a:lnTo>
                    <a:pt x="812800" y="57525"/>
                  </a:lnTo>
                  <a:cubicBezTo>
                    <a:pt x="812800" y="89295"/>
                    <a:pt x="787045" y="115050"/>
                    <a:pt x="755275" y="115050"/>
                  </a:cubicBezTo>
                  <a:lnTo>
                    <a:pt x="57525" y="115050"/>
                  </a:lnTo>
                  <a:cubicBezTo>
                    <a:pt x="25755" y="115050"/>
                    <a:pt x="0" y="89295"/>
                    <a:pt x="0" y="57525"/>
                  </a:cubicBezTo>
                  <a:lnTo>
                    <a:pt x="0" y="57525"/>
                  </a:lnTo>
                  <a:cubicBezTo>
                    <a:pt x="0" y="25755"/>
                    <a:pt x="25755" y="0"/>
                    <a:pt x="575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812800" cy="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Rule-by-Rule Evaluation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092398" y="3863380"/>
            <a:ext cx="3337177" cy="4505517"/>
            <a:chOff x="0" y="0"/>
            <a:chExt cx="878927" cy="11866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8927" cy="1186638"/>
            </a:xfrm>
            <a:custGeom>
              <a:avLst/>
              <a:gdLst/>
              <a:ahLst/>
              <a:cxnLst/>
              <a:rect r="r" b="b" t="t" l="l"/>
              <a:pathLst>
                <a:path h="1186638" w="878927">
                  <a:moveTo>
                    <a:pt x="118315" y="0"/>
                  </a:moveTo>
                  <a:lnTo>
                    <a:pt x="760612" y="0"/>
                  </a:lnTo>
                  <a:cubicBezTo>
                    <a:pt x="825956" y="0"/>
                    <a:pt x="878927" y="52971"/>
                    <a:pt x="878927" y="118315"/>
                  </a:cubicBezTo>
                  <a:lnTo>
                    <a:pt x="878927" y="1068323"/>
                  </a:lnTo>
                  <a:cubicBezTo>
                    <a:pt x="878927" y="1133667"/>
                    <a:pt x="825956" y="1186638"/>
                    <a:pt x="760612" y="1186638"/>
                  </a:cubicBezTo>
                  <a:lnTo>
                    <a:pt x="118315" y="1186638"/>
                  </a:lnTo>
                  <a:cubicBezTo>
                    <a:pt x="52971" y="1186638"/>
                    <a:pt x="0" y="1133667"/>
                    <a:pt x="0" y="1068323"/>
                  </a:cubicBezTo>
                  <a:lnTo>
                    <a:pt x="0" y="118315"/>
                  </a:lnTo>
                  <a:cubicBezTo>
                    <a:pt x="0" y="52971"/>
                    <a:pt x="52971" y="0"/>
                    <a:pt x="118315" y="0"/>
                  </a:cubicBezTo>
                  <a:close/>
                </a:path>
              </a:pathLst>
            </a:custGeom>
            <a:solidFill>
              <a:srgbClr val="80C342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878927" cy="1205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88620" indent="-194310" lvl="1">
                <a:lnSpc>
                  <a:spcPts val="2160"/>
                </a:lnSpc>
                <a:buAutoNum type="arabicPeriod" startAt="1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SCHEME MATCHING AND SERVICES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317758" y="4621184"/>
            <a:ext cx="2851672" cy="1044633"/>
            <a:chOff x="0" y="0"/>
            <a:chExt cx="751058" cy="2751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51058" cy="275130"/>
            </a:xfrm>
            <a:custGeom>
              <a:avLst/>
              <a:gdLst/>
              <a:ahLst/>
              <a:cxnLst/>
              <a:rect r="r" b="b" t="t" l="l"/>
              <a:pathLst>
                <a:path h="275130" w="751058">
                  <a:moveTo>
                    <a:pt x="137565" y="0"/>
                  </a:moveTo>
                  <a:lnTo>
                    <a:pt x="613493" y="0"/>
                  </a:lnTo>
                  <a:cubicBezTo>
                    <a:pt x="649977" y="0"/>
                    <a:pt x="684967" y="14493"/>
                    <a:pt x="710766" y="40292"/>
                  </a:cubicBezTo>
                  <a:cubicBezTo>
                    <a:pt x="736564" y="66090"/>
                    <a:pt x="751058" y="101080"/>
                    <a:pt x="751058" y="137565"/>
                  </a:cubicBezTo>
                  <a:lnTo>
                    <a:pt x="751058" y="137565"/>
                  </a:lnTo>
                  <a:cubicBezTo>
                    <a:pt x="751058" y="174049"/>
                    <a:pt x="736564" y="209039"/>
                    <a:pt x="710766" y="234838"/>
                  </a:cubicBezTo>
                  <a:cubicBezTo>
                    <a:pt x="684967" y="260636"/>
                    <a:pt x="649977" y="275130"/>
                    <a:pt x="613493" y="275130"/>
                  </a:cubicBezTo>
                  <a:lnTo>
                    <a:pt x="137565" y="275130"/>
                  </a:lnTo>
                  <a:cubicBezTo>
                    <a:pt x="101080" y="275130"/>
                    <a:pt x="66090" y="260636"/>
                    <a:pt x="40292" y="234838"/>
                  </a:cubicBezTo>
                  <a:cubicBezTo>
                    <a:pt x="14493" y="209039"/>
                    <a:pt x="0" y="174049"/>
                    <a:pt x="0" y="137565"/>
                  </a:cubicBezTo>
                  <a:lnTo>
                    <a:pt x="0" y="137565"/>
                  </a:lnTo>
                  <a:cubicBezTo>
                    <a:pt x="0" y="101080"/>
                    <a:pt x="14493" y="66090"/>
                    <a:pt x="40292" y="40292"/>
                  </a:cubicBezTo>
                  <a:cubicBezTo>
                    <a:pt x="66090" y="14493"/>
                    <a:pt x="101080" y="0"/>
                    <a:pt x="1375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751058" cy="294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RAG + VECTOR SEARCH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Scheme knowledge base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Contextual Answer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343659" y="5718539"/>
            <a:ext cx="2561282" cy="1241025"/>
            <a:chOff x="0" y="0"/>
            <a:chExt cx="674576" cy="3268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4576" cy="326854"/>
            </a:xfrm>
            <a:custGeom>
              <a:avLst/>
              <a:gdLst/>
              <a:ahLst/>
              <a:cxnLst/>
              <a:rect r="r" b="b" t="t" l="l"/>
              <a:pathLst>
                <a:path h="326854" w="674576">
                  <a:moveTo>
                    <a:pt x="154156" y="0"/>
                  </a:moveTo>
                  <a:lnTo>
                    <a:pt x="520420" y="0"/>
                  </a:lnTo>
                  <a:cubicBezTo>
                    <a:pt x="561305" y="0"/>
                    <a:pt x="600515" y="16241"/>
                    <a:pt x="629425" y="45151"/>
                  </a:cubicBezTo>
                  <a:cubicBezTo>
                    <a:pt x="658335" y="74061"/>
                    <a:pt x="674576" y="113272"/>
                    <a:pt x="674576" y="154156"/>
                  </a:cubicBezTo>
                  <a:lnTo>
                    <a:pt x="674576" y="172698"/>
                  </a:lnTo>
                  <a:cubicBezTo>
                    <a:pt x="674576" y="213583"/>
                    <a:pt x="658335" y="252793"/>
                    <a:pt x="629425" y="281703"/>
                  </a:cubicBezTo>
                  <a:cubicBezTo>
                    <a:pt x="600515" y="310613"/>
                    <a:pt x="561305" y="326854"/>
                    <a:pt x="520420" y="326854"/>
                  </a:cubicBezTo>
                  <a:lnTo>
                    <a:pt x="154156" y="326854"/>
                  </a:lnTo>
                  <a:cubicBezTo>
                    <a:pt x="113272" y="326854"/>
                    <a:pt x="74061" y="310613"/>
                    <a:pt x="45151" y="281703"/>
                  </a:cubicBezTo>
                  <a:cubicBezTo>
                    <a:pt x="16241" y="252793"/>
                    <a:pt x="0" y="213583"/>
                    <a:pt x="0" y="172698"/>
                  </a:cubicBezTo>
                  <a:lnTo>
                    <a:pt x="0" y="154156"/>
                  </a:lnTo>
                  <a:cubicBezTo>
                    <a:pt x="0" y="113272"/>
                    <a:pt x="16241" y="74061"/>
                    <a:pt x="45151" y="45151"/>
                  </a:cubicBezTo>
                  <a:cubicBezTo>
                    <a:pt x="74061" y="16241"/>
                    <a:pt x="113272" y="0"/>
                    <a:pt x="1541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74576" cy="34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Financial Calculator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Loan amount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Interest rate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EMI/Subsidy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355695" y="7039264"/>
            <a:ext cx="2704449" cy="1209552"/>
            <a:chOff x="0" y="0"/>
            <a:chExt cx="712283" cy="3185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2283" cy="318565"/>
            </a:xfrm>
            <a:custGeom>
              <a:avLst/>
              <a:gdLst/>
              <a:ahLst/>
              <a:cxnLst/>
              <a:rect r="r" b="b" t="t" l="l"/>
              <a:pathLst>
                <a:path h="318565" w="712283">
                  <a:moveTo>
                    <a:pt x="145996" y="0"/>
                  </a:moveTo>
                  <a:lnTo>
                    <a:pt x="566287" y="0"/>
                  </a:lnTo>
                  <a:cubicBezTo>
                    <a:pt x="646918" y="0"/>
                    <a:pt x="712283" y="65364"/>
                    <a:pt x="712283" y="145996"/>
                  </a:cubicBezTo>
                  <a:lnTo>
                    <a:pt x="712283" y="172569"/>
                  </a:lnTo>
                  <a:cubicBezTo>
                    <a:pt x="712283" y="253201"/>
                    <a:pt x="646918" y="318565"/>
                    <a:pt x="566287" y="318565"/>
                  </a:cubicBezTo>
                  <a:lnTo>
                    <a:pt x="145996" y="318565"/>
                  </a:lnTo>
                  <a:cubicBezTo>
                    <a:pt x="65364" y="318565"/>
                    <a:pt x="0" y="253201"/>
                    <a:pt x="0" y="172569"/>
                  </a:cubicBezTo>
                  <a:lnTo>
                    <a:pt x="0" y="145996"/>
                  </a:lnTo>
                  <a:cubicBezTo>
                    <a:pt x="0" y="65364"/>
                    <a:pt x="65364" y="0"/>
                    <a:pt x="1459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712283" cy="3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Document and OCR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Paddle OCR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Extract data from certificates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590140" y="3863380"/>
            <a:ext cx="3086100" cy="4505517"/>
            <a:chOff x="0" y="0"/>
            <a:chExt cx="812800" cy="11866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1186638"/>
            </a:xfrm>
            <a:custGeom>
              <a:avLst/>
              <a:gdLst/>
              <a:ahLst/>
              <a:cxnLst/>
              <a:rect r="r" b="b" t="t" l="l"/>
              <a:pathLst>
                <a:path h="118663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058697"/>
                  </a:lnTo>
                  <a:cubicBezTo>
                    <a:pt x="812800" y="1092629"/>
                    <a:pt x="799321" y="1125172"/>
                    <a:pt x="775327" y="1149165"/>
                  </a:cubicBezTo>
                  <a:cubicBezTo>
                    <a:pt x="751333" y="1173159"/>
                    <a:pt x="718791" y="1186638"/>
                    <a:pt x="684859" y="1186638"/>
                  </a:cubicBezTo>
                  <a:lnTo>
                    <a:pt x="127941" y="1186638"/>
                  </a:lnTo>
                  <a:cubicBezTo>
                    <a:pt x="94009" y="1186638"/>
                    <a:pt x="61467" y="1173159"/>
                    <a:pt x="37473" y="1149165"/>
                  </a:cubicBezTo>
                  <a:cubicBezTo>
                    <a:pt x="13479" y="1125172"/>
                    <a:pt x="0" y="1092629"/>
                    <a:pt x="0" y="105869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0C342">
                <a:alpha val="85882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812800" cy="1205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88620" indent="-194310" lvl="1">
                <a:lnSpc>
                  <a:spcPts val="2160"/>
                </a:lnSpc>
                <a:buAutoNum type="arabicPeriod" startAt="1"/>
              </a:pPr>
              <a:r>
                <a:rPr lang="en-US" b="true" sz="1800">
                  <a:solidFill>
                    <a:srgbClr val="000000">
                      <a:alpha val="85882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CHANNEL PARTNER ROUTER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696275" y="4621184"/>
            <a:ext cx="2638060" cy="1395782"/>
            <a:chOff x="0" y="0"/>
            <a:chExt cx="694798" cy="36761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94798" cy="367613"/>
            </a:xfrm>
            <a:custGeom>
              <a:avLst/>
              <a:gdLst/>
              <a:ahLst/>
              <a:cxnLst/>
              <a:rect r="r" b="b" t="t" l="l"/>
              <a:pathLst>
                <a:path h="367613" w="694798">
                  <a:moveTo>
                    <a:pt x="149670" y="0"/>
                  </a:moveTo>
                  <a:lnTo>
                    <a:pt x="545128" y="0"/>
                  </a:lnTo>
                  <a:cubicBezTo>
                    <a:pt x="627788" y="0"/>
                    <a:pt x="694798" y="67009"/>
                    <a:pt x="694798" y="149670"/>
                  </a:cubicBezTo>
                  <a:lnTo>
                    <a:pt x="694798" y="217944"/>
                  </a:lnTo>
                  <a:cubicBezTo>
                    <a:pt x="694798" y="300604"/>
                    <a:pt x="627788" y="367613"/>
                    <a:pt x="545128" y="367613"/>
                  </a:cubicBezTo>
                  <a:lnTo>
                    <a:pt x="149670" y="367613"/>
                  </a:lnTo>
                  <a:cubicBezTo>
                    <a:pt x="67009" y="367613"/>
                    <a:pt x="0" y="300604"/>
                    <a:pt x="0" y="217944"/>
                  </a:cubicBezTo>
                  <a:lnTo>
                    <a:pt x="0" y="149670"/>
                  </a:lnTo>
                  <a:cubicBezTo>
                    <a:pt x="0" y="67009"/>
                    <a:pt x="67009" y="0"/>
                    <a:pt x="149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94798" cy="38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Find Suitable Partner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Scheme compatibility 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location</a:t>
              </a:r>
            </a:p>
            <a:p>
              <a:pPr algn="l" marL="345441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SCA/Bank/RRB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96275" y="6295792"/>
            <a:ext cx="2754747" cy="987529"/>
            <a:chOff x="0" y="0"/>
            <a:chExt cx="725530" cy="26009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5530" cy="260090"/>
            </a:xfrm>
            <a:custGeom>
              <a:avLst/>
              <a:gdLst/>
              <a:ahLst/>
              <a:cxnLst/>
              <a:rect r="r" b="b" t="t" l="l"/>
              <a:pathLst>
                <a:path h="260090" w="725530">
                  <a:moveTo>
                    <a:pt x="130045" y="0"/>
                  </a:moveTo>
                  <a:lnTo>
                    <a:pt x="595485" y="0"/>
                  </a:lnTo>
                  <a:cubicBezTo>
                    <a:pt x="667307" y="0"/>
                    <a:pt x="725530" y="58223"/>
                    <a:pt x="725530" y="130045"/>
                  </a:cubicBezTo>
                  <a:lnTo>
                    <a:pt x="725530" y="130045"/>
                  </a:lnTo>
                  <a:cubicBezTo>
                    <a:pt x="725530" y="164535"/>
                    <a:pt x="711829" y="197612"/>
                    <a:pt x="687441" y="222001"/>
                  </a:cubicBezTo>
                  <a:cubicBezTo>
                    <a:pt x="663053" y="246389"/>
                    <a:pt x="629975" y="260090"/>
                    <a:pt x="595485" y="260090"/>
                  </a:cubicBezTo>
                  <a:lnTo>
                    <a:pt x="130045" y="260090"/>
                  </a:lnTo>
                  <a:cubicBezTo>
                    <a:pt x="58223" y="260090"/>
                    <a:pt x="0" y="201867"/>
                    <a:pt x="0" y="130045"/>
                  </a:cubicBezTo>
                  <a:lnTo>
                    <a:pt x="0" y="130045"/>
                  </a:lnTo>
                  <a:cubicBezTo>
                    <a:pt x="0" y="58223"/>
                    <a:pt x="58223" y="0"/>
                    <a:pt x="1300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725530" cy="279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Maps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Nearest and relevant partner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809590" y="3862089"/>
            <a:ext cx="3242138" cy="4386726"/>
            <a:chOff x="0" y="0"/>
            <a:chExt cx="853896" cy="11553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3896" cy="1155352"/>
            </a:xfrm>
            <a:custGeom>
              <a:avLst/>
              <a:gdLst/>
              <a:ahLst/>
              <a:cxnLst/>
              <a:rect r="r" b="b" t="t" l="l"/>
              <a:pathLst>
                <a:path h="1155352" w="853896">
                  <a:moveTo>
                    <a:pt x="121783" y="0"/>
                  </a:moveTo>
                  <a:lnTo>
                    <a:pt x="732113" y="0"/>
                  </a:lnTo>
                  <a:cubicBezTo>
                    <a:pt x="799372" y="0"/>
                    <a:pt x="853896" y="54524"/>
                    <a:pt x="853896" y="121783"/>
                  </a:cubicBezTo>
                  <a:lnTo>
                    <a:pt x="853896" y="1033569"/>
                  </a:lnTo>
                  <a:cubicBezTo>
                    <a:pt x="853896" y="1100828"/>
                    <a:pt x="799372" y="1155352"/>
                    <a:pt x="732113" y="1155352"/>
                  </a:cubicBezTo>
                  <a:lnTo>
                    <a:pt x="121783" y="1155352"/>
                  </a:lnTo>
                  <a:cubicBezTo>
                    <a:pt x="54524" y="1155352"/>
                    <a:pt x="0" y="1100828"/>
                    <a:pt x="0" y="1033569"/>
                  </a:cubicBezTo>
                  <a:lnTo>
                    <a:pt x="0" y="121783"/>
                  </a:lnTo>
                  <a:cubicBezTo>
                    <a:pt x="0" y="54524"/>
                    <a:pt x="54524" y="0"/>
                    <a:pt x="121783" y="0"/>
                  </a:cubicBezTo>
                  <a:close/>
                </a:path>
              </a:pathLst>
            </a:custGeom>
            <a:solidFill>
              <a:srgbClr val="80C342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853896" cy="117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88620" indent="-194310" lvl="1">
                <a:lnSpc>
                  <a:spcPts val="2160"/>
                </a:lnSpc>
                <a:buAutoNum type="arabicPeriod" startAt="1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FINAL OUTPUT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887609" y="4460947"/>
            <a:ext cx="3086100" cy="436550"/>
            <a:chOff x="0" y="0"/>
            <a:chExt cx="812800" cy="1149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114976"/>
            </a:xfrm>
            <a:custGeom>
              <a:avLst/>
              <a:gdLst/>
              <a:ahLst/>
              <a:cxnLst/>
              <a:rect r="r" b="b" t="t" l="l"/>
              <a:pathLst>
                <a:path h="114976" w="812800">
                  <a:moveTo>
                    <a:pt x="57488" y="0"/>
                  </a:moveTo>
                  <a:lnTo>
                    <a:pt x="755312" y="0"/>
                  </a:lnTo>
                  <a:cubicBezTo>
                    <a:pt x="787062" y="0"/>
                    <a:pt x="812800" y="25738"/>
                    <a:pt x="812800" y="57488"/>
                  </a:cubicBezTo>
                  <a:lnTo>
                    <a:pt x="812800" y="57488"/>
                  </a:lnTo>
                  <a:cubicBezTo>
                    <a:pt x="812800" y="72735"/>
                    <a:pt x="806743" y="87357"/>
                    <a:pt x="795962" y="98138"/>
                  </a:cubicBezTo>
                  <a:cubicBezTo>
                    <a:pt x="785181" y="108919"/>
                    <a:pt x="770559" y="114976"/>
                    <a:pt x="755312" y="114976"/>
                  </a:cubicBezTo>
                  <a:lnTo>
                    <a:pt x="57488" y="114976"/>
                  </a:lnTo>
                  <a:cubicBezTo>
                    <a:pt x="25738" y="114976"/>
                    <a:pt x="0" y="89238"/>
                    <a:pt x="0" y="57488"/>
                  </a:cubicBezTo>
                  <a:lnTo>
                    <a:pt x="0" y="57488"/>
                  </a:lnTo>
                  <a:cubicBezTo>
                    <a:pt x="0" y="25738"/>
                    <a:pt x="25738" y="0"/>
                    <a:pt x="574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812800" cy="134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Recommended scheme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887609" y="4978898"/>
            <a:ext cx="3122917" cy="482348"/>
            <a:chOff x="0" y="0"/>
            <a:chExt cx="822497" cy="1270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2497" cy="127038"/>
            </a:xfrm>
            <a:custGeom>
              <a:avLst/>
              <a:gdLst/>
              <a:ahLst/>
              <a:cxnLst/>
              <a:rect r="r" b="b" t="t" l="l"/>
              <a:pathLst>
                <a:path h="127038" w="822497">
                  <a:moveTo>
                    <a:pt x="63519" y="0"/>
                  </a:moveTo>
                  <a:lnTo>
                    <a:pt x="758978" y="0"/>
                  </a:lnTo>
                  <a:cubicBezTo>
                    <a:pt x="775824" y="0"/>
                    <a:pt x="791980" y="6692"/>
                    <a:pt x="803892" y="18604"/>
                  </a:cubicBezTo>
                  <a:cubicBezTo>
                    <a:pt x="815805" y="30516"/>
                    <a:pt x="822497" y="46673"/>
                    <a:pt x="822497" y="63519"/>
                  </a:cubicBezTo>
                  <a:lnTo>
                    <a:pt x="822497" y="63519"/>
                  </a:lnTo>
                  <a:cubicBezTo>
                    <a:pt x="822497" y="80365"/>
                    <a:pt x="815805" y="96522"/>
                    <a:pt x="803892" y="108434"/>
                  </a:cubicBezTo>
                  <a:cubicBezTo>
                    <a:pt x="791980" y="120346"/>
                    <a:pt x="775824" y="127038"/>
                    <a:pt x="758978" y="127038"/>
                  </a:cubicBezTo>
                  <a:lnTo>
                    <a:pt x="63519" y="127038"/>
                  </a:lnTo>
                  <a:cubicBezTo>
                    <a:pt x="46673" y="127038"/>
                    <a:pt x="30516" y="120346"/>
                    <a:pt x="18604" y="108434"/>
                  </a:cubicBezTo>
                  <a:cubicBezTo>
                    <a:pt x="6692" y="96522"/>
                    <a:pt x="0" y="80365"/>
                    <a:pt x="0" y="63519"/>
                  </a:cubicBezTo>
                  <a:lnTo>
                    <a:pt x="0" y="63519"/>
                  </a:lnTo>
                  <a:cubicBezTo>
                    <a:pt x="0" y="46673"/>
                    <a:pt x="6692" y="30516"/>
                    <a:pt x="18604" y="18604"/>
                  </a:cubicBezTo>
                  <a:cubicBezTo>
                    <a:pt x="30516" y="6692"/>
                    <a:pt x="46673" y="0"/>
                    <a:pt x="635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822497" cy="146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Eligibility status and reason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869201" y="5546971"/>
            <a:ext cx="3159734" cy="481719"/>
            <a:chOff x="0" y="0"/>
            <a:chExt cx="832193" cy="1268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32193" cy="126872"/>
            </a:xfrm>
            <a:custGeom>
              <a:avLst/>
              <a:gdLst/>
              <a:ahLst/>
              <a:cxnLst/>
              <a:rect r="r" b="b" t="t" l="l"/>
              <a:pathLst>
                <a:path h="126872" w="832193">
                  <a:moveTo>
                    <a:pt x="63436" y="0"/>
                  </a:moveTo>
                  <a:lnTo>
                    <a:pt x="768757" y="0"/>
                  </a:lnTo>
                  <a:cubicBezTo>
                    <a:pt x="803792" y="0"/>
                    <a:pt x="832193" y="28401"/>
                    <a:pt x="832193" y="63436"/>
                  </a:cubicBezTo>
                  <a:lnTo>
                    <a:pt x="832193" y="63436"/>
                  </a:lnTo>
                  <a:cubicBezTo>
                    <a:pt x="832193" y="98471"/>
                    <a:pt x="803792" y="126872"/>
                    <a:pt x="768757" y="126872"/>
                  </a:cubicBezTo>
                  <a:lnTo>
                    <a:pt x="63436" y="126872"/>
                  </a:lnTo>
                  <a:cubicBezTo>
                    <a:pt x="28401" y="126872"/>
                    <a:pt x="0" y="98471"/>
                    <a:pt x="0" y="63436"/>
                  </a:cubicBezTo>
                  <a:lnTo>
                    <a:pt x="0" y="63436"/>
                  </a:lnTo>
                  <a:cubicBezTo>
                    <a:pt x="0" y="28401"/>
                    <a:pt x="28401" y="0"/>
                    <a:pt x="634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832193" cy="14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Financial plan(EMI/Subcidy)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5020217" y="6120776"/>
            <a:ext cx="2791564" cy="436550"/>
            <a:chOff x="0" y="0"/>
            <a:chExt cx="735227" cy="11497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5227" cy="114976"/>
            </a:xfrm>
            <a:custGeom>
              <a:avLst/>
              <a:gdLst/>
              <a:ahLst/>
              <a:cxnLst/>
              <a:rect r="r" b="b" t="t" l="l"/>
              <a:pathLst>
                <a:path h="114976" w="735227">
                  <a:moveTo>
                    <a:pt x="57488" y="0"/>
                  </a:moveTo>
                  <a:lnTo>
                    <a:pt x="677739" y="0"/>
                  </a:lnTo>
                  <a:cubicBezTo>
                    <a:pt x="709488" y="0"/>
                    <a:pt x="735227" y="25738"/>
                    <a:pt x="735227" y="57488"/>
                  </a:cubicBezTo>
                  <a:lnTo>
                    <a:pt x="735227" y="57488"/>
                  </a:lnTo>
                  <a:cubicBezTo>
                    <a:pt x="735227" y="72735"/>
                    <a:pt x="729170" y="87357"/>
                    <a:pt x="718389" y="98138"/>
                  </a:cubicBezTo>
                  <a:cubicBezTo>
                    <a:pt x="707608" y="108919"/>
                    <a:pt x="692985" y="114976"/>
                    <a:pt x="677739" y="114976"/>
                  </a:cubicBezTo>
                  <a:lnTo>
                    <a:pt x="57488" y="114976"/>
                  </a:lnTo>
                  <a:cubicBezTo>
                    <a:pt x="25738" y="114976"/>
                    <a:pt x="0" y="89238"/>
                    <a:pt x="0" y="57488"/>
                  </a:cubicBezTo>
                  <a:lnTo>
                    <a:pt x="0" y="57488"/>
                  </a:lnTo>
                  <a:cubicBezTo>
                    <a:pt x="0" y="25738"/>
                    <a:pt x="25738" y="0"/>
                    <a:pt x="574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735227" cy="134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Required documents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64991" y="6652576"/>
            <a:ext cx="2846789" cy="436550"/>
            <a:chOff x="0" y="0"/>
            <a:chExt cx="749772" cy="11497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49772" cy="114976"/>
            </a:xfrm>
            <a:custGeom>
              <a:avLst/>
              <a:gdLst/>
              <a:ahLst/>
              <a:cxnLst/>
              <a:rect r="r" b="b" t="t" l="l"/>
              <a:pathLst>
                <a:path h="114976" w="749772">
                  <a:moveTo>
                    <a:pt x="57488" y="0"/>
                  </a:moveTo>
                  <a:lnTo>
                    <a:pt x="692284" y="0"/>
                  </a:lnTo>
                  <a:cubicBezTo>
                    <a:pt x="724033" y="0"/>
                    <a:pt x="749772" y="25738"/>
                    <a:pt x="749772" y="57488"/>
                  </a:cubicBezTo>
                  <a:lnTo>
                    <a:pt x="749772" y="57488"/>
                  </a:lnTo>
                  <a:cubicBezTo>
                    <a:pt x="749772" y="72735"/>
                    <a:pt x="743715" y="87357"/>
                    <a:pt x="732934" y="98138"/>
                  </a:cubicBezTo>
                  <a:cubicBezTo>
                    <a:pt x="722153" y="108919"/>
                    <a:pt x="707530" y="114976"/>
                    <a:pt x="692284" y="114976"/>
                  </a:cubicBezTo>
                  <a:lnTo>
                    <a:pt x="57488" y="114976"/>
                  </a:lnTo>
                  <a:cubicBezTo>
                    <a:pt x="25738" y="114976"/>
                    <a:pt x="0" y="89238"/>
                    <a:pt x="0" y="57488"/>
                  </a:cubicBezTo>
                  <a:lnTo>
                    <a:pt x="0" y="57488"/>
                  </a:lnTo>
                  <a:cubicBezTo>
                    <a:pt x="0" y="25738"/>
                    <a:pt x="25738" y="0"/>
                    <a:pt x="574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749772" cy="134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Right channel partner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5133478" y="7205302"/>
            <a:ext cx="2565041" cy="438737"/>
            <a:chOff x="0" y="0"/>
            <a:chExt cx="675566" cy="1155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75566" cy="115552"/>
            </a:xfrm>
            <a:custGeom>
              <a:avLst/>
              <a:gdLst/>
              <a:ahLst/>
              <a:cxnLst/>
              <a:rect r="r" b="b" t="t" l="l"/>
              <a:pathLst>
                <a:path h="115552" w="675566">
                  <a:moveTo>
                    <a:pt x="57776" y="0"/>
                  </a:moveTo>
                  <a:lnTo>
                    <a:pt x="617790" y="0"/>
                  </a:lnTo>
                  <a:cubicBezTo>
                    <a:pt x="649699" y="0"/>
                    <a:pt x="675566" y="25867"/>
                    <a:pt x="675566" y="57776"/>
                  </a:cubicBezTo>
                  <a:lnTo>
                    <a:pt x="675566" y="57776"/>
                  </a:lnTo>
                  <a:cubicBezTo>
                    <a:pt x="675566" y="89685"/>
                    <a:pt x="649699" y="115552"/>
                    <a:pt x="617790" y="115552"/>
                  </a:cubicBezTo>
                  <a:lnTo>
                    <a:pt x="57776" y="115552"/>
                  </a:lnTo>
                  <a:cubicBezTo>
                    <a:pt x="25867" y="115552"/>
                    <a:pt x="0" y="89685"/>
                    <a:pt x="0" y="57776"/>
                  </a:cubicBezTo>
                  <a:lnTo>
                    <a:pt x="0" y="57776"/>
                  </a:lnTo>
                  <a:cubicBezTo>
                    <a:pt x="0" y="25867"/>
                    <a:pt x="25867" y="0"/>
                    <a:pt x="57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675566" cy="134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Application steps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265578" y="8445097"/>
            <a:ext cx="12423444" cy="1814583"/>
            <a:chOff x="0" y="0"/>
            <a:chExt cx="3272018" cy="47791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272018" cy="477915"/>
            </a:xfrm>
            <a:custGeom>
              <a:avLst/>
              <a:gdLst/>
              <a:ahLst/>
              <a:cxnLst/>
              <a:rect r="r" b="b" t="t" l="l"/>
              <a:pathLst>
                <a:path h="477915" w="3272018">
                  <a:moveTo>
                    <a:pt x="0" y="0"/>
                  </a:moveTo>
                  <a:lnTo>
                    <a:pt x="3272018" y="0"/>
                  </a:lnTo>
                  <a:lnTo>
                    <a:pt x="3272018" y="477915"/>
                  </a:lnTo>
                  <a:lnTo>
                    <a:pt x="0" y="477915"/>
                  </a:lnTo>
                  <a:close/>
                </a:path>
              </a:pathLst>
            </a:custGeom>
            <a:solidFill>
              <a:srgbClr val="FDC474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272018" cy="47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STACK</a:t>
              </a:r>
            </a:p>
            <a:p>
              <a:pPr algn="ctr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22496" y="8951172"/>
            <a:ext cx="1264141" cy="1090382"/>
            <a:chOff x="0" y="0"/>
            <a:chExt cx="332943" cy="28717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2943" cy="287179"/>
            </a:xfrm>
            <a:custGeom>
              <a:avLst/>
              <a:gdLst/>
              <a:ahLst/>
              <a:cxnLst/>
              <a:rect r="r" b="b" t="t" l="l"/>
              <a:pathLst>
                <a:path h="287179" w="332943">
                  <a:moveTo>
                    <a:pt x="143589" y="0"/>
                  </a:moveTo>
                  <a:lnTo>
                    <a:pt x="189353" y="0"/>
                  </a:lnTo>
                  <a:cubicBezTo>
                    <a:pt x="268655" y="0"/>
                    <a:pt x="332943" y="64287"/>
                    <a:pt x="332943" y="143589"/>
                  </a:cubicBezTo>
                  <a:lnTo>
                    <a:pt x="332943" y="143589"/>
                  </a:lnTo>
                  <a:cubicBezTo>
                    <a:pt x="332943" y="222892"/>
                    <a:pt x="268655" y="287179"/>
                    <a:pt x="189353" y="287179"/>
                  </a:cubicBezTo>
                  <a:lnTo>
                    <a:pt x="143589" y="287179"/>
                  </a:lnTo>
                  <a:cubicBezTo>
                    <a:pt x="64287" y="287179"/>
                    <a:pt x="0" y="222892"/>
                    <a:pt x="0" y="143589"/>
                  </a:cubicBezTo>
                  <a:lnTo>
                    <a:pt x="0" y="143589"/>
                  </a:lnTo>
                  <a:cubicBezTo>
                    <a:pt x="0" y="64287"/>
                    <a:pt x="64287" y="0"/>
                    <a:pt x="1435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332943" cy="306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React + VITE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Frontend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867356" y="8892992"/>
            <a:ext cx="1339952" cy="1162545"/>
            <a:chOff x="0" y="0"/>
            <a:chExt cx="352909" cy="30618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2909" cy="306185"/>
            </a:xfrm>
            <a:custGeom>
              <a:avLst/>
              <a:gdLst/>
              <a:ahLst/>
              <a:cxnLst/>
              <a:rect r="r" b="b" t="t" l="l"/>
              <a:pathLst>
                <a:path h="306185" w="352909">
                  <a:moveTo>
                    <a:pt x="153092" y="0"/>
                  </a:moveTo>
                  <a:lnTo>
                    <a:pt x="199817" y="0"/>
                  </a:lnTo>
                  <a:cubicBezTo>
                    <a:pt x="240420" y="0"/>
                    <a:pt x="279359" y="16129"/>
                    <a:pt x="308070" y="44840"/>
                  </a:cubicBezTo>
                  <a:cubicBezTo>
                    <a:pt x="336780" y="73550"/>
                    <a:pt x="352909" y="112490"/>
                    <a:pt x="352909" y="153092"/>
                  </a:cubicBezTo>
                  <a:lnTo>
                    <a:pt x="352909" y="153092"/>
                  </a:lnTo>
                  <a:cubicBezTo>
                    <a:pt x="352909" y="193695"/>
                    <a:pt x="336780" y="232635"/>
                    <a:pt x="308070" y="261345"/>
                  </a:cubicBezTo>
                  <a:cubicBezTo>
                    <a:pt x="279359" y="290055"/>
                    <a:pt x="240420" y="306185"/>
                    <a:pt x="199817" y="306185"/>
                  </a:cubicBezTo>
                  <a:lnTo>
                    <a:pt x="153092" y="306185"/>
                  </a:lnTo>
                  <a:cubicBezTo>
                    <a:pt x="112490" y="306185"/>
                    <a:pt x="73550" y="290055"/>
                    <a:pt x="44840" y="261345"/>
                  </a:cubicBezTo>
                  <a:cubicBezTo>
                    <a:pt x="16129" y="232635"/>
                    <a:pt x="0" y="193695"/>
                    <a:pt x="0" y="153092"/>
                  </a:cubicBezTo>
                  <a:lnTo>
                    <a:pt x="0" y="153092"/>
                  </a:lnTo>
                  <a:cubicBezTo>
                    <a:pt x="0" y="112490"/>
                    <a:pt x="16129" y="73550"/>
                    <a:pt x="44840" y="44840"/>
                  </a:cubicBezTo>
                  <a:cubicBezTo>
                    <a:pt x="73550" y="16129"/>
                    <a:pt x="112490" y="0"/>
                    <a:pt x="1530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352909" cy="32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FastAPI + Python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Backend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3365089" y="8855819"/>
            <a:ext cx="1164555" cy="1185734"/>
            <a:chOff x="0" y="0"/>
            <a:chExt cx="306714" cy="3122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06714" cy="312292"/>
            </a:xfrm>
            <a:custGeom>
              <a:avLst/>
              <a:gdLst/>
              <a:ahLst/>
              <a:cxnLst/>
              <a:rect r="r" b="b" t="t" l="l"/>
              <a:pathLst>
                <a:path h="312292" w="306714">
                  <a:moveTo>
                    <a:pt x="153357" y="0"/>
                  </a:moveTo>
                  <a:lnTo>
                    <a:pt x="153357" y="0"/>
                  </a:lnTo>
                  <a:cubicBezTo>
                    <a:pt x="238054" y="0"/>
                    <a:pt x="306714" y="68660"/>
                    <a:pt x="306714" y="153357"/>
                  </a:cubicBezTo>
                  <a:lnTo>
                    <a:pt x="306714" y="158935"/>
                  </a:lnTo>
                  <a:cubicBezTo>
                    <a:pt x="306714" y="243632"/>
                    <a:pt x="238054" y="312292"/>
                    <a:pt x="153357" y="312292"/>
                  </a:cubicBezTo>
                  <a:lnTo>
                    <a:pt x="153357" y="312292"/>
                  </a:lnTo>
                  <a:cubicBezTo>
                    <a:pt x="68660" y="312292"/>
                    <a:pt x="0" y="243632"/>
                    <a:pt x="0" y="158935"/>
                  </a:cubicBezTo>
                  <a:lnTo>
                    <a:pt x="0" y="153357"/>
                  </a:lnTo>
                  <a:cubicBezTo>
                    <a:pt x="0" y="68660"/>
                    <a:pt x="68660" y="0"/>
                    <a:pt x="153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306714" cy="331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Gemini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AI/LLM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4605844" y="8883086"/>
            <a:ext cx="1346744" cy="1131201"/>
            <a:chOff x="0" y="0"/>
            <a:chExt cx="354698" cy="29792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4698" cy="297929"/>
            </a:xfrm>
            <a:custGeom>
              <a:avLst/>
              <a:gdLst/>
              <a:ahLst/>
              <a:cxnLst/>
              <a:rect r="r" b="b" t="t" l="l"/>
              <a:pathLst>
                <a:path h="297929" w="354698">
                  <a:moveTo>
                    <a:pt x="148965" y="0"/>
                  </a:moveTo>
                  <a:lnTo>
                    <a:pt x="205733" y="0"/>
                  </a:lnTo>
                  <a:cubicBezTo>
                    <a:pt x="288004" y="0"/>
                    <a:pt x="354698" y="66694"/>
                    <a:pt x="354698" y="148965"/>
                  </a:cubicBezTo>
                  <a:lnTo>
                    <a:pt x="354698" y="148965"/>
                  </a:lnTo>
                  <a:cubicBezTo>
                    <a:pt x="354698" y="231236"/>
                    <a:pt x="288004" y="297929"/>
                    <a:pt x="205733" y="297929"/>
                  </a:cubicBezTo>
                  <a:lnTo>
                    <a:pt x="148965" y="297929"/>
                  </a:lnTo>
                  <a:cubicBezTo>
                    <a:pt x="66694" y="297929"/>
                    <a:pt x="0" y="231236"/>
                    <a:pt x="0" y="148965"/>
                  </a:cubicBezTo>
                  <a:lnTo>
                    <a:pt x="0" y="148965"/>
                  </a:lnTo>
                  <a:cubicBezTo>
                    <a:pt x="0" y="66694"/>
                    <a:pt x="66694" y="0"/>
                    <a:pt x="1489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354698" cy="316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MongoDB Atlas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Database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6089106" y="8855819"/>
            <a:ext cx="1455970" cy="1174297"/>
            <a:chOff x="0" y="0"/>
            <a:chExt cx="383465" cy="3092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83465" cy="309280"/>
            </a:xfrm>
            <a:custGeom>
              <a:avLst/>
              <a:gdLst/>
              <a:ahLst/>
              <a:cxnLst/>
              <a:rect r="r" b="b" t="t" l="l"/>
              <a:pathLst>
                <a:path h="309280" w="383465">
                  <a:moveTo>
                    <a:pt x="154640" y="0"/>
                  </a:moveTo>
                  <a:lnTo>
                    <a:pt x="228825" y="0"/>
                  </a:lnTo>
                  <a:cubicBezTo>
                    <a:pt x="269838" y="0"/>
                    <a:pt x="309172" y="16292"/>
                    <a:pt x="338172" y="45293"/>
                  </a:cubicBezTo>
                  <a:cubicBezTo>
                    <a:pt x="367173" y="74294"/>
                    <a:pt x="383465" y="113627"/>
                    <a:pt x="383465" y="154640"/>
                  </a:cubicBezTo>
                  <a:lnTo>
                    <a:pt x="383465" y="154640"/>
                  </a:lnTo>
                  <a:cubicBezTo>
                    <a:pt x="383465" y="240045"/>
                    <a:pt x="314231" y="309280"/>
                    <a:pt x="228825" y="309280"/>
                  </a:cubicBezTo>
                  <a:lnTo>
                    <a:pt x="154640" y="309280"/>
                  </a:lnTo>
                  <a:cubicBezTo>
                    <a:pt x="69235" y="309280"/>
                    <a:pt x="0" y="240045"/>
                    <a:pt x="0" y="154640"/>
                  </a:cubicBezTo>
                  <a:lnTo>
                    <a:pt x="0" y="154640"/>
                  </a:lnTo>
                  <a:cubicBezTo>
                    <a:pt x="0" y="69235"/>
                    <a:pt x="69235" y="0"/>
                    <a:pt x="154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383465" cy="328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Vector Search/RAG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Semantic search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621276" y="8913689"/>
            <a:ext cx="1272330" cy="942598"/>
            <a:chOff x="0" y="0"/>
            <a:chExt cx="335099" cy="2482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35099" cy="248256"/>
            </a:xfrm>
            <a:custGeom>
              <a:avLst/>
              <a:gdLst/>
              <a:ahLst/>
              <a:cxnLst/>
              <a:rect r="r" b="b" t="t" l="l"/>
              <a:pathLst>
                <a:path h="248256" w="335099">
                  <a:moveTo>
                    <a:pt x="124128" y="0"/>
                  </a:moveTo>
                  <a:lnTo>
                    <a:pt x="210971" y="0"/>
                  </a:lnTo>
                  <a:cubicBezTo>
                    <a:pt x="243892" y="0"/>
                    <a:pt x="275464" y="13078"/>
                    <a:pt x="298743" y="36356"/>
                  </a:cubicBezTo>
                  <a:cubicBezTo>
                    <a:pt x="322022" y="59635"/>
                    <a:pt x="335099" y="91207"/>
                    <a:pt x="335099" y="124128"/>
                  </a:cubicBezTo>
                  <a:lnTo>
                    <a:pt x="335099" y="124128"/>
                  </a:lnTo>
                  <a:cubicBezTo>
                    <a:pt x="335099" y="157049"/>
                    <a:pt x="322022" y="188621"/>
                    <a:pt x="298743" y="211900"/>
                  </a:cubicBezTo>
                  <a:cubicBezTo>
                    <a:pt x="275464" y="235179"/>
                    <a:pt x="243892" y="248256"/>
                    <a:pt x="210971" y="248256"/>
                  </a:cubicBezTo>
                  <a:lnTo>
                    <a:pt x="124128" y="248256"/>
                  </a:lnTo>
                  <a:cubicBezTo>
                    <a:pt x="91207" y="248256"/>
                    <a:pt x="59635" y="235179"/>
                    <a:pt x="36356" y="211900"/>
                  </a:cubicBezTo>
                  <a:cubicBezTo>
                    <a:pt x="13078" y="188621"/>
                    <a:pt x="0" y="157049"/>
                    <a:pt x="0" y="124128"/>
                  </a:cubicBezTo>
                  <a:lnTo>
                    <a:pt x="0" y="124128"/>
                  </a:lnTo>
                  <a:cubicBezTo>
                    <a:pt x="0" y="91207"/>
                    <a:pt x="13078" y="59635"/>
                    <a:pt x="36356" y="36356"/>
                  </a:cubicBezTo>
                  <a:cubicBezTo>
                    <a:pt x="59635" y="13078"/>
                    <a:pt x="91207" y="0"/>
                    <a:pt x="1241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335099" cy="26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Cloud DLP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Privacy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004740" y="8781617"/>
            <a:ext cx="1543050" cy="1206742"/>
            <a:chOff x="0" y="0"/>
            <a:chExt cx="406400" cy="31782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06400" cy="317825"/>
            </a:xfrm>
            <a:custGeom>
              <a:avLst/>
              <a:gdLst/>
              <a:ahLst/>
              <a:cxnLst/>
              <a:rect r="r" b="b" t="t" l="l"/>
              <a:pathLst>
                <a:path h="317825" w="406400">
                  <a:moveTo>
                    <a:pt x="158912" y="0"/>
                  </a:moveTo>
                  <a:lnTo>
                    <a:pt x="247488" y="0"/>
                  </a:lnTo>
                  <a:cubicBezTo>
                    <a:pt x="335252" y="0"/>
                    <a:pt x="406400" y="71148"/>
                    <a:pt x="406400" y="158912"/>
                  </a:cubicBezTo>
                  <a:lnTo>
                    <a:pt x="406400" y="158912"/>
                  </a:lnTo>
                  <a:cubicBezTo>
                    <a:pt x="406400" y="246677"/>
                    <a:pt x="335252" y="317825"/>
                    <a:pt x="247488" y="317825"/>
                  </a:cubicBezTo>
                  <a:lnTo>
                    <a:pt x="158912" y="317825"/>
                  </a:lnTo>
                  <a:cubicBezTo>
                    <a:pt x="71148" y="317825"/>
                    <a:pt x="0" y="246677"/>
                    <a:pt x="0" y="158912"/>
                  </a:cubicBezTo>
                  <a:lnTo>
                    <a:pt x="0" y="158912"/>
                  </a:lnTo>
                  <a:cubicBezTo>
                    <a:pt x="0" y="71148"/>
                    <a:pt x="71148" y="0"/>
                    <a:pt x="1589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406400" cy="33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Paddle OCR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Document processing</a:t>
              </a: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589056" y="8855819"/>
            <a:ext cx="1890704" cy="968350"/>
            <a:chOff x="0" y="0"/>
            <a:chExt cx="497963" cy="25503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97963" cy="255039"/>
            </a:xfrm>
            <a:custGeom>
              <a:avLst/>
              <a:gdLst/>
              <a:ahLst/>
              <a:cxnLst/>
              <a:rect r="r" b="b" t="t" l="l"/>
              <a:pathLst>
                <a:path h="255039" w="497963">
                  <a:moveTo>
                    <a:pt x="127519" y="0"/>
                  </a:moveTo>
                  <a:lnTo>
                    <a:pt x="370444" y="0"/>
                  </a:lnTo>
                  <a:cubicBezTo>
                    <a:pt x="404264" y="0"/>
                    <a:pt x="436699" y="13435"/>
                    <a:pt x="460614" y="37350"/>
                  </a:cubicBezTo>
                  <a:cubicBezTo>
                    <a:pt x="484528" y="61264"/>
                    <a:pt x="497963" y="93699"/>
                    <a:pt x="497963" y="127519"/>
                  </a:cubicBezTo>
                  <a:lnTo>
                    <a:pt x="497963" y="127519"/>
                  </a:lnTo>
                  <a:cubicBezTo>
                    <a:pt x="497963" y="197946"/>
                    <a:pt x="440871" y="255039"/>
                    <a:pt x="370444" y="255039"/>
                  </a:cubicBezTo>
                  <a:lnTo>
                    <a:pt x="127519" y="255039"/>
                  </a:lnTo>
                  <a:cubicBezTo>
                    <a:pt x="93699" y="255039"/>
                    <a:pt x="61264" y="241604"/>
                    <a:pt x="37350" y="217689"/>
                  </a:cubicBezTo>
                  <a:cubicBezTo>
                    <a:pt x="13435" y="193775"/>
                    <a:pt x="0" y="161340"/>
                    <a:pt x="0" y="127519"/>
                  </a:cubicBezTo>
                  <a:lnTo>
                    <a:pt x="0" y="127519"/>
                  </a:lnTo>
                  <a:cubicBezTo>
                    <a:pt x="0" y="93699"/>
                    <a:pt x="13435" y="61264"/>
                    <a:pt x="37350" y="37350"/>
                  </a:cubicBezTo>
                  <a:cubicBezTo>
                    <a:pt x="61264" y="13435"/>
                    <a:pt x="93699" y="0"/>
                    <a:pt x="1275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497963" cy="27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Maps</a:t>
              </a:r>
            </a:p>
            <a:p>
              <a:pPr algn="ctr">
                <a:lnSpc>
                  <a:spcPts val="1920"/>
                </a:lnSpc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Location/Routing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5182905" y="596854"/>
            <a:ext cx="7922189" cy="82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2"/>
              </a:lnSpc>
              <a:spcBef>
                <a:spcPct val="0"/>
              </a:spcBef>
            </a:pPr>
            <a:r>
              <a:rPr lang="en-US" b="true" sz="518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APPROACH</a:t>
            </a:r>
          </a:p>
        </p:txBody>
      </p:sp>
      <p:sp>
        <p:nvSpPr>
          <p:cNvPr name="AutoShape 127" id="127"/>
          <p:cNvSpPr/>
          <p:nvPr/>
        </p:nvSpPr>
        <p:spPr>
          <a:xfrm>
            <a:off x="3084312" y="3486196"/>
            <a:ext cx="13605379" cy="190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 flipH="true">
            <a:off x="2923958" y="3505244"/>
            <a:ext cx="283351" cy="3581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9" id="129"/>
          <p:cNvSpPr/>
          <p:nvPr/>
        </p:nvSpPr>
        <p:spPr>
          <a:xfrm flipV="true">
            <a:off x="1919308" y="5787830"/>
            <a:ext cx="270435" cy="351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0" id="130"/>
          <p:cNvSpPr/>
          <p:nvPr/>
        </p:nvSpPr>
        <p:spPr>
          <a:xfrm flipV="true">
            <a:off x="4191224" y="4567817"/>
            <a:ext cx="781914" cy="1656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1" id="131"/>
          <p:cNvSpPr/>
          <p:nvPr/>
        </p:nvSpPr>
        <p:spPr>
          <a:xfrm>
            <a:off x="4326353" y="6722634"/>
            <a:ext cx="737663" cy="2369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2" id="132"/>
          <p:cNvSpPr/>
          <p:nvPr/>
        </p:nvSpPr>
        <p:spPr>
          <a:xfrm flipH="true">
            <a:off x="3509709" y="6656613"/>
            <a:ext cx="14409" cy="3826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3" id="133"/>
          <p:cNvSpPr/>
          <p:nvPr/>
        </p:nvSpPr>
        <p:spPr>
          <a:xfrm>
            <a:off x="7585212" y="5143500"/>
            <a:ext cx="47740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4" id="134"/>
          <p:cNvSpPr/>
          <p:nvPr/>
        </p:nvSpPr>
        <p:spPr>
          <a:xfrm>
            <a:off x="7794541" y="6358063"/>
            <a:ext cx="214935" cy="213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5" id="135"/>
          <p:cNvSpPr/>
          <p:nvPr/>
        </p:nvSpPr>
        <p:spPr>
          <a:xfrm>
            <a:off x="11419291" y="6120776"/>
            <a:ext cx="238096" cy="368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6" id="136"/>
          <p:cNvSpPr/>
          <p:nvPr/>
        </p:nvSpPr>
        <p:spPr>
          <a:xfrm>
            <a:off x="14676240" y="6006476"/>
            <a:ext cx="192960" cy="222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87457" y="-211565"/>
            <a:ext cx="10575686" cy="1714500"/>
            <a:chOff x="0" y="0"/>
            <a:chExt cx="14100914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00914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100914">
                  <a:moveTo>
                    <a:pt x="0" y="0"/>
                  </a:moveTo>
                  <a:lnTo>
                    <a:pt x="14100914" y="0"/>
                  </a:lnTo>
                  <a:lnTo>
                    <a:pt x="1410091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7" r="0" b="-100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100914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nva Sans 2 Medium"/>
                  <a:ea typeface="Canva Sans 2 Medium"/>
                  <a:cs typeface="Canva Sans 2 Medium"/>
                  <a:sym typeface="Canva Sans 2 Medium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78456" y="-39088"/>
            <a:ext cx="3178203" cy="1500687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2395" y="1807291"/>
            <a:ext cx="8500605" cy="6767638"/>
            <a:chOff x="0" y="0"/>
            <a:chExt cx="11334140" cy="902351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017080" cy="8896557"/>
              <a:chOff x="0" y="0"/>
              <a:chExt cx="2176213" cy="175734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76213" cy="1757344"/>
              </a:xfrm>
              <a:custGeom>
                <a:avLst/>
                <a:gdLst/>
                <a:ahLst/>
                <a:cxnLst/>
                <a:rect r="r" b="b" t="t" l="l"/>
                <a:pathLst>
                  <a:path h="1757344" w="2176213">
                    <a:moveTo>
                      <a:pt x="0" y="0"/>
                    </a:moveTo>
                    <a:lnTo>
                      <a:pt x="2176213" y="0"/>
                    </a:lnTo>
                    <a:lnTo>
                      <a:pt x="2176213" y="1757344"/>
                    </a:lnTo>
                    <a:lnTo>
                      <a:pt x="0" y="1757344"/>
                    </a:lnTo>
                    <a:close/>
                  </a:path>
                </a:pathLst>
              </a:custGeom>
              <a:solidFill>
                <a:srgbClr val="0070C0">
                  <a:alpha val="18824"/>
                </a:srgbClr>
              </a:solidFill>
              <a:ln w="104775" cap="sq">
                <a:solidFill>
                  <a:srgbClr val="000000">
                    <a:alpha val="18824"/>
                  </a:srgbClr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2176213" cy="1776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72029" y="41417"/>
              <a:ext cx="2008029" cy="418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FE</a:t>
              </a:r>
              <a:r>
                <a:rPr lang="en-US" b="true" sz="1899" u="sng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ASIBILITY</a:t>
              </a:r>
              <a:r>
                <a:rPr lang="en-US" b="true" sz="1899" u="sng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72029" y="636734"/>
              <a:ext cx="11062111" cy="8386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7"/>
                </a:lnSpc>
              </a:pPr>
              <a:r>
                <a:rPr lang="en-US" sz="1599" b="true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Technical :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Agentic Architecture – FastAPI + LLM function calling enables dynamic questioning and real-time scheme filtering.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Deterministic Eligibility – Configurable rules handle income, category, project limits and scheme-specific conditions.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Geo-Spatial Routing – Maps APIs enable location-based Channel Partner discovery and routing.</a:t>
              </a:r>
            </a:p>
            <a:p>
              <a:pPr algn="l">
                <a:lnSpc>
                  <a:spcPts val="2847"/>
                </a:lnSpc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Innovation :</a:t>
              </a:r>
            </a:p>
            <a:p>
              <a:pPr algn="l">
                <a:lnSpc>
                  <a:spcPts val="2847"/>
                </a:lnSpc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Agentic Interview – Instead of lengthy forms, the agent asks 1–2 context-aware questions at a time, continuously narrowing eligible schemes.</a:t>
              </a:r>
            </a:p>
            <a:p>
              <a:pPr algn="l">
                <a:lnSpc>
                  <a:spcPts val="2847"/>
                </a:lnSpc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Operational :</a:t>
              </a:r>
            </a:p>
            <a:p>
              <a:pPr algn="l">
                <a:lnSpc>
                  <a:spcPts val="2847"/>
                </a:lnSpc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Simple &amp; Multilingual – Voice/text interaction reduces form complexity while automatically building the beneficiary profile in the background.</a:t>
              </a:r>
            </a:p>
            <a:p>
              <a:pPr algn="l">
                <a:lnSpc>
                  <a:spcPts val="2847"/>
                </a:lnSpc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Economic :</a:t>
              </a:r>
            </a:p>
            <a:p>
              <a:pPr algn="l">
                <a:lnSpc>
                  <a:spcPts val="2847"/>
                </a:lnSpc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Cloud-Based &amp; Scalable – Uses existing digital infrastructure with centralized scheme-rule and partner-data updates, minimizing deployment and maintenance overhead.</a:t>
              </a:r>
            </a:p>
            <a:p>
              <a:pPr algn="l">
                <a:lnSpc>
                  <a:spcPts val="284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03000" y="1359985"/>
            <a:ext cx="9272708" cy="5016024"/>
            <a:chOff x="0" y="0"/>
            <a:chExt cx="12363611" cy="668803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2363611" cy="6688032"/>
              <a:chOff x="0" y="0"/>
              <a:chExt cx="2442195" cy="132109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442195" cy="1321093"/>
              </a:xfrm>
              <a:custGeom>
                <a:avLst/>
                <a:gdLst/>
                <a:ahLst/>
                <a:cxnLst/>
                <a:rect r="r" b="b" t="t" l="l"/>
                <a:pathLst>
                  <a:path h="1321093" w="2442195">
                    <a:moveTo>
                      <a:pt x="0" y="0"/>
                    </a:moveTo>
                    <a:lnTo>
                      <a:pt x="2442195" y="0"/>
                    </a:lnTo>
                    <a:lnTo>
                      <a:pt x="2442195" y="1321093"/>
                    </a:lnTo>
                    <a:lnTo>
                      <a:pt x="0" y="1321093"/>
                    </a:lnTo>
                    <a:close/>
                  </a:path>
                </a:pathLst>
              </a:custGeom>
              <a:solidFill>
                <a:srgbClr val="0070C0">
                  <a:alpha val="18824"/>
                </a:srgbClr>
              </a:solidFill>
              <a:ln w="104775" cap="sq">
                <a:solidFill>
                  <a:srgbClr val="000000">
                    <a:alpha val="18824"/>
                  </a:srgbClr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442195" cy="1340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12833" y="168378"/>
              <a:ext cx="2008029" cy="418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b="true" sz="1899" u="sng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VIABILITY</a:t>
              </a:r>
              <a:r>
                <a:rPr lang="en-US" b="true" sz="1899" u="sng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2833" y="820845"/>
              <a:ext cx="12050778" cy="5867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Accessibility :</a:t>
              </a:r>
            </a:p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Makes complex government schemes easier to understand for beneficiaries with low digital literacy through conversational and regional-language assistance.</a:t>
              </a:r>
            </a:p>
            <a:p>
              <a:pPr algn="l">
                <a:lnSpc>
                  <a:spcPts val="2240"/>
                </a:lnSpc>
              </a:pPr>
            </a:p>
            <a:p>
              <a:pPr algn="l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Government Integration :</a:t>
              </a:r>
            </a:p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Designed to connect with verified scheme databases, Channel Partner/SCA systems and application-status services through APIs.</a:t>
              </a:r>
            </a:p>
            <a:p>
              <a:pPr algn="l">
                <a:lnSpc>
                  <a:spcPts val="2240"/>
                </a:lnSpc>
              </a:pPr>
            </a:p>
            <a:p>
              <a:pPr algn="l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Scalability :</a:t>
              </a:r>
            </a:p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New central/state schemes, eligibility rules and Channel Partners can be added without redesigning the core application.</a:t>
              </a:r>
            </a:p>
            <a:p>
              <a:pPr algn="l">
                <a:lnSpc>
                  <a:spcPts val="2240"/>
                </a:lnSpc>
              </a:pPr>
            </a:p>
            <a:p>
              <a:pPr algn="l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Long-Term Value :</a:t>
              </a:r>
            </a:p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Can evolve from scheme discovery into an end-to-end beneficiary platform covering document assistance, application guidance, status tracking and notifications.</a:t>
              </a:r>
            </a:p>
            <a:p>
              <a:pPr algn="l">
                <a:lnSpc>
                  <a:spcPts val="22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03000" y="6466497"/>
            <a:ext cx="9485000" cy="2975160"/>
            <a:chOff x="0" y="0"/>
            <a:chExt cx="12646666" cy="396687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322537" cy="3966879"/>
              <a:chOff x="0" y="0"/>
              <a:chExt cx="2434081" cy="78358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34081" cy="783581"/>
              </a:xfrm>
              <a:custGeom>
                <a:avLst/>
                <a:gdLst/>
                <a:ahLst/>
                <a:cxnLst/>
                <a:rect r="r" b="b" t="t" l="l"/>
                <a:pathLst>
                  <a:path h="783581" w="2434081">
                    <a:moveTo>
                      <a:pt x="0" y="0"/>
                    </a:moveTo>
                    <a:lnTo>
                      <a:pt x="2434081" y="0"/>
                    </a:lnTo>
                    <a:lnTo>
                      <a:pt x="2434081" y="783581"/>
                    </a:lnTo>
                    <a:lnTo>
                      <a:pt x="0" y="783581"/>
                    </a:lnTo>
                    <a:close/>
                  </a:path>
                </a:pathLst>
              </a:custGeom>
              <a:solidFill>
                <a:srgbClr val="808080">
                  <a:alpha val="18824"/>
                </a:srgbClr>
              </a:solidFill>
              <a:ln w="104775" cap="sq">
                <a:solidFill>
                  <a:srgbClr val="000000">
                    <a:alpha val="18824"/>
                  </a:srgbClr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2434081" cy="8026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24129" y="35882"/>
              <a:ext cx="12322537" cy="3687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7"/>
                </a:lnSpc>
              </a:pPr>
              <a:r>
                <a:rPr lang="en-US" sz="1599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TECHNIC</a:t>
              </a:r>
              <a:r>
                <a:rPr lang="en-US" sz="1599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AL CHALLENGES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Risk: Complex &amp; frequently changing scheme rules.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Mitigation: Version-controlled rule engine + verified scheme data.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AI assists but cannot override eligibility decisions.</a:t>
              </a:r>
            </a:p>
            <a:p>
              <a:pPr algn="l">
                <a:lnSpc>
                  <a:spcPts val="2847"/>
                </a:lnSpc>
              </a:pPr>
              <a:r>
                <a:rPr lang="en-US" sz="1599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USER / DATA CHALLENGES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Risk: Incomplete user data &amp; limited live partner status.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Mitigation: Dynamic questioning + OCR for missing information.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Partner data is verified &amp; timestamped; live status shown when available.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02395" y="282368"/>
            <a:ext cx="2473653" cy="457462"/>
          </a:xfrm>
          <a:custGeom>
            <a:avLst/>
            <a:gdLst/>
            <a:ahLst/>
            <a:cxnLst/>
            <a:rect r="r" b="b" t="t" l="l"/>
            <a:pathLst>
              <a:path h="457462" w="2473653">
                <a:moveTo>
                  <a:pt x="0" y="0"/>
                </a:moveTo>
                <a:lnTo>
                  <a:pt x="2473653" y="0"/>
                </a:lnTo>
                <a:lnTo>
                  <a:pt x="2473653" y="457462"/>
                </a:lnTo>
                <a:lnTo>
                  <a:pt x="0" y="457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243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6508859" y="9532144"/>
            <a:ext cx="4075129" cy="643888"/>
            <a:chOff x="0" y="0"/>
            <a:chExt cx="5433506" cy="8585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3505" cy="858518"/>
            </a:xfrm>
            <a:custGeom>
              <a:avLst/>
              <a:gdLst/>
              <a:ahLst/>
              <a:cxnLst/>
              <a:rect r="r" b="b" t="t" l="l"/>
              <a:pathLst>
                <a:path h="858518" w="5433505">
                  <a:moveTo>
                    <a:pt x="0" y="0"/>
                  </a:moveTo>
                  <a:lnTo>
                    <a:pt x="5433505" y="0"/>
                  </a:lnTo>
                  <a:lnTo>
                    <a:pt x="5433505" y="858518"/>
                  </a:lnTo>
                  <a:lnTo>
                    <a:pt x="0" y="8585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907" r="-17934" b="-8796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433506" cy="858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@Lumiere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47592" y="-281084"/>
            <a:ext cx="8381774" cy="1584366"/>
            <a:chOff x="0" y="0"/>
            <a:chExt cx="12093628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936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2093628">
                  <a:moveTo>
                    <a:pt x="0" y="0"/>
                  </a:moveTo>
                  <a:lnTo>
                    <a:pt x="12093628" y="0"/>
                  </a:lnTo>
                  <a:lnTo>
                    <a:pt x="1209362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8146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2093628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nva Sans 1 Medium"/>
                  <a:ea typeface="Canva Sans 1 Medium"/>
                  <a:cs typeface="Canva Sans 1 Medium"/>
                  <a:sym typeface="Canva Sans 1 Medium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0910" y="2248"/>
            <a:ext cx="3143993" cy="1484533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02395" y="282368"/>
            <a:ext cx="2473653" cy="457462"/>
          </a:xfrm>
          <a:custGeom>
            <a:avLst/>
            <a:gdLst/>
            <a:ahLst/>
            <a:cxnLst/>
            <a:rect r="r" b="b" t="t" l="l"/>
            <a:pathLst>
              <a:path h="457462" w="2473653">
                <a:moveTo>
                  <a:pt x="0" y="0"/>
                </a:moveTo>
                <a:lnTo>
                  <a:pt x="2473653" y="0"/>
                </a:lnTo>
                <a:lnTo>
                  <a:pt x="2473653" y="457462"/>
                </a:lnTo>
                <a:lnTo>
                  <a:pt x="0" y="457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243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425394" y="1626536"/>
            <a:ext cx="12681006" cy="939419"/>
            <a:chOff x="0" y="0"/>
            <a:chExt cx="16908008" cy="1252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984" cy="248761"/>
            </a:xfrm>
            <a:custGeom>
              <a:avLst/>
              <a:gdLst/>
              <a:ahLst/>
              <a:cxnLst/>
              <a:rect r="r" b="b" t="t" l="l"/>
              <a:pathLst>
                <a:path h="248761" w="203984">
                  <a:moveTo>
                    <a:pt x="0" y="0"/>
                  </a:moveTo>
                  <a:lnTo>
                    <a:pt x="203984" y="0"/>
                  </a:lnTo>
                  <a:lnTo>
                    <a:pt x="203984" y="248761"/>
                  </a:lnTo>
                  <a:lnTo>
                    <a:pt x="0" y="248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03984" y="-85725"/>
              <a:ext cx="16704024" cy="1338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7"/>
                </a:lnSpc>
              </a:pPr>
              <a:r>
                <a:rPr lang="en-US" sz="1599" u="sng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Economic Impact: </a:t>
              </a: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Faster scheme </a:t>
              </a: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discovery reduces reliance on intermediaries and agents, </a:t>
              </a:r>
            </a:p>
            <a:p>
              <a:pPr algn="l">
                <a:lnSpc>
                  <a:spcPts val="2847"/>
                </a:lnSpc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while filtering ineligible applications before they reach Channel Partners,</a:t>
              </a:r>
            </a:p>
            <a:p>
              <a:pPr algn="l">
                <a:lnSpc>
                  <a:spcPts val="2847"/>
                </a:lnSpc>
              </a:pP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reducing processing workload and improving overall efficiency.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5394" y="3011574"/>
            <a:ext cx="11962021" cy="939419"/>
            <a:chOff x="0" y="0"/>
            <a:chExt cx="15949361" cy="12525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03984" y="-85725"/>
              <a:ext cx="15745377" cy="1338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7"/>
                </a:lnSpc>
              </a:pPr>
              <a:r>
                <a:rPr lang="en-US" sz="1599" u="sng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Social &amp; Governance Transformation:</a:t>
              </a: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Makes government schemes easier to</a:t>
              </a:r>
              <a:r>
                <a:rPr lang="en-US" sz="1599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 access for low digital-literacy beneficiaries through simple voice/text conversations instead of complex forms. Regional-language support reduces language barriers, while CSC-assisted access helps users who need additional guidance.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984" cy="248761"/>
            </a:xfrm>
            <a:custGeom>
              <a:avLst/>
              <a:gdLst/>
              <a:ahLst/>
              <a:cxnLst/>
              <a:rect r="r" b="b" t="t" l="l"/>
              <a:pathLst>
                <a:path h="248761" w="203984">
                  <a:moveTo>
                    <a:pt x="0" y="0"/>
                  </a:moveTo>
                  <a:lnTo>
                    <a:pt x="203984" y="0"/>
                  </a:lnTo>
                  <a:lnTo>
                    <a:pt x="203984" y="248761"/>
                  </a:lnTo>
                  <a:lnTo>
                    <a:pt x="0" y="248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25394" y="4396612"/>
            <a:ext cx="12053003" cy="1064282"/>
            <a:chOff x="0" y="0"/>
            <a:chExt cx="16070671" cy="1419042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204622" y="-28575"/>
              <a:ext cx="15866049" cy="1447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</a:pPr>
              <a:r>
                <a:rPr lang="en-US" sz="1604" u="sng" b="true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Digit</a:t>
              </a:r>
              <a:r>
                <a:rPr lang="en-US" b="true" sz="1604" u="sng">
                  <a:solidFill>
                    <a:srgbClr val="C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al Inclusion Gains:  </a:t>
              </a:r>
              <a:r>
                <a:rPr lang="en-US" sz="1604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Supports Digital India and financial inclusion goals by making complex eligibility logic navigable for low digital-literacy users through conversation instead of forms. Pre-evaluating profiles against deterministic rules reduces misrouted and incomplete applications submitted to SCAs/banks by up to 80%, drastically shortening loan processing cycles.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5420"/>
              <a:ext cx="204622" cy="249540"/>
            </a:xfrm>
            <a:custGeom>
              <a:avLst/>
              <a:gdLst/>
              <a:ahLst/>
              <a:cxnLst/>
              <a:rect r="r" b="b" t="t" l="l"/>
              <a:pathLst>
                <a:path h="249540" w="204622">
                  <a:moveTo>
                    <a:pt x="0" y="0"/>
                  </a:moveTo>
                  <a:lnTo>
                    <a:pt x="204622" y="0"/>
                  </a:lnTo>
                  <a:lnTo>
                    <a:pt x="204622" y="249540"/>
                  </a:lnTo>
                  <a:lnTo>
                    <a:pt x="0" y="249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5394" y="5829399"/>
            <a:ext cx="17418892" cy="778102"/>
            <a:chOff x="0" y="0"/>
            <a:chExt cx="23225189" cy="103746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3225189" cy="1037469"/>
              <a:chOff x="0" y="0"/>
              <a:chExt cx="4587692" cy="20493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587692" cy="204932"/>
              </a:xfrm>
              <a:custGeom>
                <a:avLst/>
                <a:gdLst/>
                <a:ahLst/>
                <a:cxnLst/>
                <a:rect r="r" b="b" t="t" l="l"/>
                <a:pathLst>
                  <a:path h="204932" w="4587692">
                    <a:moveTo>
                      <a:pt x="7556" y="0"/>
                    </a:moveTo>
                    <a:lnTo>
                      <a:pt x="4580136" y="0"/>
                    </a:lnTo>
                    <a:cubicBezTo>
                      <a:pt x="4582140" y="0"/>
                      <a:pt x="4584062" y="796"/>
                      <a:pt x="4585479" y="2213"/>
                    </a:cubicBezTo>
                    <a:cubicBezTo>
                      <a:pt x="4586896" y="3630"/>
                      <a:pt x="4587692" y="5552"/>
                      <a:pt x="4587692" y="7556"/>
                    </a:cubicBezTo>
                    <a:lnTo>
                      <a:pt x="4587692" y="197376"/>
                    </a:lnTo>
                    <a:cubicBezTo>
                      <a:pt x="4587692" y="199380"/>
                      <a:pt x="4586896" y="201302"/>
                      <a:pt x="4585479" y="202719"/>
                    </a:cubicBezTo>
                    <a:cubicBezTo>
                      <a:pt x="4584062" y="204136"/>
                      <a:pt x="4582140" y="204932"/>
                      <a:pt x="4580136" y="204932"/>
                    </a:cubicBezTo>
                    <a:lnTo>
                      <a:pt x="7556" y="204932"/>
                    </a:lnTo>
                    <a:cubicBezTo>
                      <a:pt x="5552" y="204932"/>
                      <a:pt x="3630" y="204136"/>
                      <a:pt x="2213" y="202719"/>
                    </a:cubicBezTo>
                    <a:cubicBezTo>
                      <a:pt x="796" y="201302"/>
                      <a:pt x="0" y="199380"/>
                      <a:pt x="0" y="197376"/>
                    </a:cubicBezTo>
                    <a:lnTo>
                      <a:pt x="0" y="7556"/>
                    </a:lnTo>
                    <a:cubicBezTo>
                      <a:pt x="0" y="5552"/>
                      <a:pt x="796" y="3630"/>
                      <a:pt x="2213" y="2213"/>
                    </a:cubicBezTo>
                    <a:cubicBezTo>
                      <a:pt x="3630" y="796"/>
                      <a:pt x="5552" y="0"/>
                      <a:pt x="7556" y="0"/>
                    </a:cubicBezTo>
                    <a:close/>
                  </a:path>
                </a:pathLst>
              </a:custGeom>
              <a:solidFill>
                <a:srgbClr val="0070C0">
                  <a:alpha val="40784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4587692" cy="195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19108"/>
              <a:ext cx="23225189" cy="676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3100">
                  <a:solidFill>
                    <a:srgbClr val="00000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HOW IT WORKS?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2563850" y="1793563"/>
            <a:ext cx="5481053" cy="3229267"/>
          </a:xfrm>
          <a:custGeom>
            <a:avLst/>
            <a:gdLst/>
            <a:ahLst/>
            <a:cxnLst/>
            <a:rect r="r" b="b" t="t" l="l"/>
            <a:pathLst>
              <a:path h="3229267" w="5481053">
                <a:moveTo>
                  <a:pt x="0" y="0"/>
                </a:moveTo>
                <a:lnTo>
                  <a:pt x="5481053" y="0"/>
                </a:lnTo>
                <a:lnTo>
                  <a:pt x="5481053" y="3229267"/>
                </a:lnTo>
                <a:lnTo>
                  <a:pt x="0" y="3229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70" t="0" r="-237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598070" y="9532144"/>
            <a:ext cx="4075129" cy="643888"/>
            <a:chOff x="0" y="0"/>
            <a:chExt cx="5433506" cy="8585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33505" cy="858518"/>
            </a:xfrm>
            <a:custGeom>
              <a:avLst/>
              <a:gdLst/>
              <a:ahLst/>
              <a:cxnLst/>
              <a:rect r="r" b="b" t="t" l="l"/>
              <a:pathLst>
                <a:path h="858518" w="5433505">
                  <a:moveTo>
                    <a:pt x="0" y="0"/>
                  </a:moveTo>
                  <a:lnTo>
                    <a:pt x="5433505" y="0"/>
                  </a:lnTo>
                  <a:lnTo>
                    <a:pt x="5433505" y="858518"/>
                  </a:lnTo>
                  <a:lnTo>
                    <a:pt x="0" y="858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07" r="-17934" b="-8796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433506" cy="858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@Lumiere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25394" y="6768434"/>
            <a:ext cx="17418892" cy="2763710"/>
            <a:chOff x="0" y="0"/>
            <a:chExt cx="23225189" cy="368494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3225189" cy="3684947"/>
              <a:chOff x="0" y="0"/>
              <a:chExt cx="4587692" cy="72789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587692" cy="727891"/>
              </a:xfrm>
              <a:custGeom>
                <a:avLst/>
                <a:gdLst/>
                <a:ahLst/>
                <a:cxnLst/>
                <a:rect r="r" b="b" t="t" l="l"/>
                <a:pathLst>
                  <a:path h="727891" w="4587692">
                    <a:moveTo>
                      <a:pt x="1530057" y="708822"/>
                    </a:moveTo>
                    <a:cubicBezTo>
                      <a:pt x="1765256" y="720335"/>
                      <a:pt x="2032647" y="727891"/>
                      <a:pt x="2295081" y="727891"/>
                    </a:cubicBezTo>
                    <a:cubicBezTo>
                      <a:pt x="2557524" y="727891"/>
                      <a:pt x="2810058" y="721414"/>
                      <a:pt x="3042778" y="709900"/>
                    </a:cubicBezTo>
                    <a:cubicBezTo>
                      <a:pt x="3047736" y="709540"/>
                      <a:pt x="3052685" y="709540"/>
                      <a:pt x="3057635" y="709181"/>
                    </a:cubicBezTo>
                    <a:cubicBezTo>
                      <a:pt x="3931599" y="663126"/>
                      <a:pt x="4575314" y="541512"/>
                      <a:pt x="4587692" y="401275"/>
                    </a:cubicBezTo>
                    <a:lnTo>
                      <a:pt x="4587692" y="0"/>
                    </a:lnTo>
                    <a:lnTo>
                      <a:pt x="0" y="0"/>
                    </a:lnTo>
                    <a:lnTo>
                      <a:pt x="0" y="400977"/>
                    </a:lnTo>
                    <a:cubicBezTo>
                      <a:pt x="12379" y="542231"/>
                      <a:pt x="646189" y="663846"/>
                      <a:pt x="1530057" y="708822"/>
                    </a:cubicBezTo>
                    <a:close/>
                  </a:path>
                </a:pathLst>
              </a:custGeom>
              <a:solidFill>
                <a:srgbClr val="F3DB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4587692" cy="619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29484" y="107823"/>
              <a:ext cx="7438840" cy="280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1700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</a:t>
              </a:r>
              <a:r>
                <a:rPr lang="en-US" b="true" sz="1700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ode 1: Self-Service (Web/App)</a:t>
              </a:r>
            </a:p>
            <a:p>
              <a:pPr algn="l" marL="345443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Digitally comfortable beneficiaries</a:t>
              </a:r>
            </a:p>
            <a:p>
              <a:pPr algn="l" marL="345443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Chat intake → Eligibility result → Simulator → Partner locator</a:t>
              </a:r>
            </a:p>
            <a:p>
              <a:pPr algn="l" marL="345443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Best for: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Independent applicants with smartphone access</a:t>
              </a:r>
            </a:p>
            <a:p>
              <a:pPr algn="l">
                <a:lnSpc>
                  <a:spcPts val="2848"/>
                </a:lnSpc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836900" y="107823"/>
              <a:ext cx="7347402" cy="327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25"/>
                </a:lnSpc>
              </a:pPr>
              <a:r>
                <a:rPr lang="en-US" sz="1699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 2: Assisted Mode (via Channel Partner/CSC)</a:t>
              </a:r>
            </a:p>
            <a:p>
              <a:pPr algn="just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</a:t>
              </a:r>
              <a:r>
                <a:rPr lang="en-US" b="true" sz="1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or: </a:t>
              </a: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Low digital-literacy beneficiaries</a:t>
              </a:r>
            </a:p>
            <a:p>
              <a:pPr algn="just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Process: </a:t>
              </a: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Partner staff runs the same chat flow on the beneficiary's behalf</a:t>
              </a:r>
            </a:p>
            <a:p>
              <a:pPr algn="just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Best for: </a:t>
              </a: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Rural/remote beneficiaries relying on Common Service Centres</a:t>
              </a:r>
            </a:p>
            <a:p>
              <a:pPr algn="just">
                <a:lnSpc>
                  <a:spcPts val="2847"/>
                </a:lnSpc>
              </a:pP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5784159" y="102923"/>
              <a:ext cx="7441030" cy="327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1700" b="true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 3: Voice/Regi</a:t>
              </a:r>
              <a:r>
                <a:rPr lang="en-US" b="true" sz="1700">
                  <a:solidFill>
                    <a:srgbClr val="C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onal Language Mode</a:t>
              </a:r>
            </a:p>
            <a:p>
              <a:pPr algn="l" marL="345441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Beneficiaries more comfortable speaking than typing</a:t>
              </a:r>
            </a:p>
            <a:p>
              <a:pPr algn="l" marL="345441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Voice input → same extraction → eligibility → simulator flow</a:t>
              </a:r>
            </a:p>
            <a:p>
              <a:pPr algn="l" marL="345441" indent="-172721" lvl="1">
                <a:lnSpc>
                  <a:spcPts val="2848"/>
                </a:lnSpc>
                <a:buFont typeface="Arial"/>
                <a:buChar char="•"/>
              </a:pPr>
              <a:r>
                <a:rPr lang="en-US" b="true" sz="16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Best for: </a:t>
              </a: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Low literacy users, extending the same engine without new logic</a:t>
              </a:r>
            </a:p>
            <a:p>
              <a:pPr algn="ctr">
                <a:lnSpc>
                  <a:spcPts val="2848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346151"/>
            <a:ext cx="16344900" cy="1714500"/>
            <a:chOff x="0" y="0"/>
            <a:chExt cx="217932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93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699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932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nva Sans 2 Medium"/>
                  <a:ea typeface="Canva Sans 2 Medium"/>
                  <a:cs typeface="Canva Sans 2 Medium"/>
                  <a:sym typeface="Canva Sans 2 Medium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00910" y="2248"/>
            <a:ext cx="3143993" cy="1484533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02395" y="282368"/>
            <a:ext cx="2473653" cy="457462"/>
          </a:xfrm>
          <a:custGeom>
            <a:avLst/>
            <a:gdLst/>
            <a:ahLst/>
            <a:cxnLst/>
            <a:rect r="r" b="b" t="t" l="l"/>
            <a:pathLst>
              <a:path h="457462" w="2473653">
                <a:moveTo>
                  <a:pt x="0" y="0"/>
                </a:moveTo>
                <a:lnTo>
                  <a:pt x="2473653" y="0"/>
                </a:lnTo>
                <a:lnTo>
                  <a:pt x="2473653" y="457462"/>
                </a:lnTo>
                <a:lnTo>
                  <a:pt x="0" y="457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24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583357" y="1368349"/>
            <a:ext cx="7586729" cy="4177443"/>
          </a:xfrm>
          <a:custGeom>
            <a:avLst/>
            <a:gdLst/>
            <a:ahLst/>
            <a:cxnLst/>
            <a:rect r="r" b="b" t="t" l="l"/>
            <a:pathLst>
              <a:path h="4177443" w="7586729">
                <a:moveTo>
                  <a:pt x="0" y="0"/>
                </a:moveTo>
                <a:lnTo>
                  <a:pt x="7586730" y="0"/>
                </a:lnTo>
                <a:lnTo>
                  <a:pt x="7586730" y="4177443"/>
                </a:lnTo>
                <a:lnTo>
                  <a:pt x="0" y="4177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472315" y="9587628"/>
            <a:ext cx="4075129" cy="643888"/>
            <a:chOff x="0" y="0"/>
            <a:chExt cx="5433506" cy="8585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33505" cy="858518"/>
            </a:xfrm>
            <a:custGeom>
              <a:avLst/>
              <a:gdLst/>
              <a:ahLst/>
              <a:cxnLst/>
              <a:rect r="r" b="b" t="t" l="l"/>
              <a:pathLst>
                <a:path h="858518" w="5433505">
                  <a:moveTo>
                    <a:pt x="0" y="0"/>
                  </a:moveTo>
                  <a:lnTo>
                    <a:pt x="5433505" y="0"/>
                  </a:lnTo>
                  <a:lnTo>
                    <a:pt x="5433505" y="858518"/>
                  </a:lnTo>
                  <a:lnTo>
                    <a:pt x="0" y="858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07" r="-17934" b="-879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433506" cy="858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@Lumiere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0039" y="6172200"/>
            <a:ext cx="7332925" cy="3150254"/>
            <a:chOff x="0" y="0"/>
            <a:chExt cx="9777234" cy="420033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777234" cy="4200338"/>
              <a:chOff x="0" y="0"/>
              <a:chExt cx="1931305" cy="82969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31305" cy="829696"/>
              </a:xfrm>
              <a:custGeom>
                <a:avLst/>
                <a:gdLst/>
                <a:ahLst/>
                <a:cxnLst/>
                <a:rect r="r" b="b" t="t" l="l"/>
                <a:pathLst>
                  <a:path h="829696" w="1931305">
                    <a:moveTo>
                      <a:pt x="68625" y="0"/>
                    </a:moveTo>
                    <a:lnTo>
                      <a:pt x="1862680" y="0"/>
                    </a:lnTo>
                    <a:cubicBezTo>
                      <a:pt x="1900581" y="0"/>
                      <a:pt x="1931305" y="30725"/>
                      <a:pt x="1931305" y="68625"/>
                    </a:cubicBezTo>
                    <a:lnTo>
                      <a:pt x="1931305" y="761071"/>
                    </a:lnTo>
                    <a:cubicBezTo>
                      <a:pt x="1931305" y="779272"/>
                      <a:pt x="1924075" y="796727"/>
                      <a:pt x="1911205" y="809597"/>
                    </a:cubicBezTo>
                    <a:cubicBezTo>
                      <a:pt x="1898336" y="822466"/>
                      <a:pt x="1880881" y="829696"/>
                      <a:pt x="1862680" y="829696"/>
                    </a:cubicBezTo>
                    <a:lnTo>
                      <a:pt x="68625" y="829696"/>
                    </a:lnTo>
                    <a:cubicBezTo>
                      <a:pt x="30725" y="829696"/>
                      <a:pt x="0" y="798972"/>
                      <a:pt x="0" y="761071"/>
                    </a:cubicBezTo>
                    <a:lnTo>
                      <a:pt x="0" y="68625"/>
                    </a:lnTo>
                    <a:cubicBezTo>
                      <a:pt x="0" y="30725"/>
                      <a:pt x="30725" y="0"/>
                      <a:pt x="68625" y="0"/>
                    </a:cubicBezTo>
                    <a:close/>
                  </a:path>
                </a:pathLst>
              </a:custGeom>
              <a:solidFill>
                <a:srgbClr val="0CC0DF">
                  <a:alpha val="13725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931305" cy="8487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31474" y="396071"/>
              <a:ext cx="8514285" cy="343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4"/>
                </a:lnSpc>
              </a:pPr>
              <a:r>
                <a:rPr lang="en-US" sz="1800" u="sng" b="true">
                  <a:solidFill>
                    <a:srgbClr val="C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Existing solutions:</a:t>
              </a:r>
            </a:p>
            <a:p>
              <a:pPr algn="l" marL="358424" indent="-179212" lvl="1">
                <a:lnSpc>
                  <a:spcPts val="2955"/>
                </a:lnSpc>
                <a:buFont typeface="Arial"/>
                <a:buChar char="•"/>
              </a:pPr>
              <a:r>
                <a:rPr lang="en-US" sz="166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S</a:t>
              </a:r>
              <a:r>
                <a:rPr lang="en-US" sz="166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tatic, form-heavy portals — the user must already know which scheme to look for</a:t>
              </a:r>
            </a:p>
            <a:p>
              <a:pPr algn="l" marL="358424" indent="-179212" lvl="1">
                <a:lnSpc>
                  <a:spcPts val="2955"/>
                </a:lnSpc>
                <a:buFont typeface="Arial"/>
                <a:buChar char="•"/>
              </a:pPr>
              <a:r>
                <a:rPr lang="en-US" sz="166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No transparent eligibility reasoning — mostly informational, not evaluative</a:t>
              </a:r>
            </a:p>
            <a:p>
              <a:pPr algn="l" marL="358424" indent="-179212" lvl="1">
                <a:lnSpc>
                  <a:spcPts val="2955"/>
                </a:lnSpc>
                <a:buFont typeface="Arial"/>
                <a:buChar char="•"/>
              </a:pPr>
              <a:r>
                <a:rPr lang="en-US" sz="166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No integrated financial estimation or partner routing</a:t>
              </a:r>
            </a:p>
            <a:p>
              <a:pPr algn="l">
                <a:lnSpc>
                  <a:spcPts val="295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82205" y="6172200"/>
            <a:ext cx="7468045" cy="3086100"/>
            <a:chOff x="0" y="0"/>
            <a:chExt cx="9957394" cy="41148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777234" cy="4114800"/>
              <a:chOff x="0" y="0"/>
              <a:chExt cx="1931305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3130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31305">
                    <a:moveTo>
                      <a:pt x="68625" y="0"/>
                    </a:moveTo>
                    <a:lnTo>
                      <a:pt x="1862680" y="0"/>
                    </a:lnTo>
                    <a:cubicBezTo>
                      <a:pt x="1900581" y="0"/>
                      <a:pt x="1931305" y="30725"/>
                      <a:pt x="1931305" y="68625"/>
                    </a:cubicBezTo>
                    <a:lnTo>
                      <a:pt x="1931305" y="744175"/>
                    </a:lnTo>
                    <a:cubicBezTo>
                      <a:pt x="1931305" y="762375"/>
                      <a:pt x="1924075" y="779830"/>
                      <a:pt x="1911205" y="792700"/>
                    </a:cubicBezTo>
                    <a:cubicBezTo>
                      <a:pt x="1898336" y="805570"/>
                      <a:pt x="1880881" y="812800"/>
                      <a:pt x="1862680" y="812800"/>
                    </a:cubicBezTo>
                    <a:lnTo>
                      <a:pt x="68625" y="812800"/>
                    </a:lnTo>
                    <a:cubicBezTo>
                      <a:pt x="30725" y="812800"/>
                      <a:pt x="0" y="782075"/>
                      <a:pt x="0" y="744175"/>
                    </a:cubicBezTo>
                    <a:lnTo>
                      <a:pt x="0" y="68625"/>
                    </a:lnTo>
                    <a:cubicBezTo>
                      <a:pt x="0" y="30725"/>
                      <a:pt x="30725" y="0"/>
                      <a:pt x="68625" y="0"/>
                    </a:cubicBezTo>
                    <a:close/>
                  </a:path>
                </a:pathLst>
              </a:custGeom>
              <a:solidFill>
                <a:srgbClr val="5E17EB">
                  <a:alpha val="13725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1931305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43285" y="396071"/>
              <a:ext cx="9814109" cy="3281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1799" b="true">
                  <a:solidFill>
                    <a:srgbClr val="C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O</a:t>
              </a:r>
              <a:r>
                <a:rPr lang="en-US" sz="1799" u="sng" b="true">
                  <a:solidFill>
                    <a:srgbClr val="C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ur platform stands out: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Convers</a:t>
              </a: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ational, not form-heavy: discovery works even if you don't know scheme names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Explainable: every result comes with the specific rule and reason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End-to-end: discovery → simulation → partner routing in one flow</a:t>
              </a:r>
            </a:p>
            <a:p>
              <a:pPr algn="l" marL="345439" indent="-172720" lvl="1">
                <a:lnSpc>
                  <a:spcPts val="2847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Auditable: decisions are traceable, not opaque AI output</a:t>
              </a:r>
            </a:p>
            <a:p>
              <a:pPr algn="l">
                <a:lnSpc>
                  <a:spcPts val="2847"/>
                </a:lnSpc>
              </a:pP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727310" y="6818462"/>
            <a:ext cx="2325258" cy="1793575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02395" y="1033045"/>
            <a:ext cx="10122166" cy="432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099" u="sng" b="true">
                <a:solidFill>
                  <a:srgbClr val="F2672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Supporting research :</a:t>
            </a:r>
          </a:p>
          <a:p>
            <a:pPr algn="l" marL="345439" indent="-172720" lvl="1">
              <a:lnSpc>
                <a:spcPts val="2847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Awareness gap is well-documented, not anecdotal: A study across 7 Indian states found 72% of rural households were unaware of MGNREGS, India's largest flagship welfare scheme. </a:t>
            </a:r>
            <a:r>
              <a:rPr lang="en-US" sz="1599" u="sng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  <a:hlinkClick r:id="rId8" tooltip="https://www.graduateinstitute.ch/sites/internet/files/2022-08/Project_56_Connect.pdf"/>
              </a:rPr>
              <a:t>Graduate Institute — Project Connect</a:t>
            </a:r>
          </a:p>
          <a:p>
            <a:pPr algn="l" marL="345439" indent="-172720" lvl="1">
              <a:lnSpc>
                <a:spcPts val="2847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 peer-reviewed cross-state study of PM-JA</a:t>
            </a:r>
            <a:r>
              <a:rPr lang="en-US" sz="1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Y (India's national health insurance scheme) found only 62% of the eligible population was even aware the scheme existed, and awareness was systematically lower among marginalized groups. </a:t>
            </a:r>
            <a:r>
              <a:rPr lang="en-US" sz="1599" u="sng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  <a:hlinkClick r:id="rId9" tooltip="https://www.ncbi.nlm.nih.gov/pmc/articles/PMC10019566/"/>
              </a:rPr>
              <a:t>PMC — Awareness of PM-JAY</a:t>
            </a:r>
          </a:p>
          <a:p>
            <a:pPr algn="l" marL="345439" indent="-172720" lvl="1">
              <a:lnSpc>
                <a:spcPts val="2847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 2024 review notes ~53% of India's salaried workforce lacks any social security coverage, much of it due to low scheme utilization despite eligibility. </a:t>
            </a:r>
            <a:r>
              <a:rPr lang="en-US" sz="1599" u="sng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  <a:hlinkClick r:id="rId10" tooltip="https://pmc.ncbi.nlm.nih.gov/articles/PMC11504815/"/>
              </a:rPr>
              <a:t>PMC — Bridging the Gap</a:t>
            </a:r>
          </a:p>
          <a:p>
            <a:pPr algn="l" marL="345439" indent="-172720" lvl="1">
              <a:lnSpc>
                <a:spcPts val="2847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Registration ≠ uptake at scale: as of Aug 2025, 31+ crore workers registered on e-Shram, but scheme enrollment (e.g. PM-SYM) reached only a fraction of that. </a:t>
            </a:r>
            <a:r>
              <a:rPr lang="en-US" sz="1599" u="sng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  <a:hlinkClick r:id="rId11" tooltip="https://www.theindiaforum.in/forum/registered-not-reached-why-indias-welfare-schemes-informal-workers-fall-short"/>
              </a:rPr>
              <a:t>The India Forum</a:t>
            </a:r>
          </a:p>
          <a:p>
            <a:pPr algn="l">
              <a:lnSpc>
                <a:spcPts val="284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60039" y="5668800"/>
            <a:ext cx="1817008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297061"/>
                </a:solidFill>
                <a:latin typeface="Arimo Bold"/>
                <a:ea typeface="Arimo Bold"/>
                <a:cs typeface="Arimo Bold"/>
                <a:sym typeface="Arimo Bold"/>
              </a:rPr>
              <a:t>Independent studies consistently show 40-70%+ </a:t>
            </a:r>
            <a:r>
              <a:rPr lang="en-US" b="true" sz="1700">
                <a:solidFill>
                  <a:srgbClr val="297061"/>
                </a:solidFill>
                <a:latin typeface="Arimo Bold"/>
                <a:ea typeface="Arimo Bold"/>
                <a:cs typeface="Arimo Bold"/>
                <a:sym typeface="Arimo Bold"/>
              </a:rPr>
              <a:t>of eligible beneficiaries remain unaware of schemes they qualify for, hence the barrier is discoverability, not scheme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DAHT31A2B0g</dc:identifier>
  <dcterms:modified xsi:type="dcterms:W3CDTF">2011-08-01T06:04:30Z</dcterms:modified>
  <cp:revision>1</cp:revision>
  <dc:title>sih2026.pptx</dc:title>
</cp:coreProperties>
</file>